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1" r:id="rId1"/>
  </p:sldMasterIdLst>
  <p:notesMasterIdLst>
    <p:notesMasterId r:id="rId16"/>
  </p:notesMasterIdLst>
  <p:handoutMasterIdLst>
    <p:handoutMasterId r:id="rId17"/>
  </p:handoutMasterIdLst>
  <p:sldIdLst>
    <p:sldId id="256" r:id="rId2"/>
    <p:sldId id="257" r:id="rId3"/>
    <p:sldId id="272" r:id="rId4"/>
    <p:sldId id="267" r:id="rId5"/>
    <p:sldId id="271" r:id="rId6"/>
    <p:sldId id="259" r:id="rId7"/>
    <p:sldId id="268" r:id="rId8"/>
    <p:sldId id="276" r:id="rId9"/>
    <p:sldId id="277" r:id="rId10"/>
    <p:sldId id="263" r:id="rId11"/>
    <p:sldId id="274" r:id="rId12"/>
    <p:sldId id="273" r:id="rId13"/>
    <p:sldId id="269"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16E77D-BE64-40DD-94F4-0E5E448A64BB}" v="2" dt="2025-01-21T09:44:23.0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84" d="100"/>
          <a:sy n="84" d="100"/>
        </p:scale>
        <p:origin x="64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D276DD-1367-4F7B-9F9C-0B308FF2D542}" type="datetime1">
              <a:rPr lang="en-IN" smtClean="0"/>
              <a:t>01-03-2025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7A02F32-7873-4EC3-B44A-C3339B1A5D87}" type="slidenum">
              <a:rPr lang="en-IN" smtClean="0"/>
              <a:t>‹#›</a:t>
            </a:fld>
            <a:endParaRPr lang="en-IN"/>
          </a:p>
        </p:txBody>
      </p:sp>
    </p:spTree>
    <p:extLst>
      <p:ext uri="{BB962C8B-B14F-4D97-AF65-F5344CB8AC3E}">
        <p14:creationId xmlns:p14="http://schemas.microsoft.com/office/powerpoint/2010/main" val="401846038"/>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A59FA1-0241-4386-B9F3-AE5F3A61A4A7}" type="datetime1">
              <a:rPr lang="en-IN" smtClean="0"/>
              <a:t>01-03-2025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A66E33-0C88-4211-9C3A-5E241118C80B}" type="slidenum">
              <a:rPr lang="en-IN" smtClean="0"/>
              <a:t>‹#›</a:t>
            </a:fld>
            <a:endParaRPr lang="en-IN"/>
          </a:p>
        </p:txBody>
      </p:sp>
    </p:spTree>
    <p:extLst>
      <p:ext uri="{BB962C8B-B14F-4D97-AF65-F5344CB8AC3E}">
        <p14:creationId xmlns:p14="http://schemas.microsoft.com/office/powerpoint/2010/main" val="3643070679"/>
      </p:ext>
    </p:extLst>
  </p:cSld>
  <p:clrMap bg1="lt1" tx1="dk1" bg2="lt2" tx2="dk2" accent1="accent1" accent2="accent2" accent3="accent3" accent4="accent4" accent5="accent5" accent6="accent6" hlink="hlink" folHlink="folHlink"/>
  <p:hf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idx="10"/>
          </p:nvPr>
        </p:nvSpPr>
        <p:spPr/>
        <p:txBody>
          <a:bodyPr/>
          <a:lstStyle/>
          <a:p>
            <a:endParaRPr lang="en-IN"/>
          </a:p>
        </p:txBody>
      </p:sp>
      <p:sp>
        <p:nvSpPr>
          <p:cNvPr id="5" name="Date Placeholder 4"/>
          <p:cNvSpPr>
            <a:spLocks noGrp="1"/>
          </p:cNvSpPr>
          <p:nvPr>
            <p:ph type="dt" idx="11"/>
          </p:nvPr>
        </p:nvSpPr>
        <p:spPr/>
        <p:txBody>
          <a:bodyPr/>
          <a:lstStyle/>
          <a:p>
            <a:fld id="{B240D3BD-6526-425B-BA9F-B60BD7848CF2}" type="datetime1">
              <a:rPr lang="en-IN" smtClean="0"/>
              <a:t>01-03-2025</a:t>
            </a:fld>
            <a:endParaRPr lang="en-IN"/>
          </a:p>
        </p:txBody>
      </p:sp>
      <p:sp>
        <p:nvSpPr>
          <p:cNvPr id="6" name="Slide Number Placeholder 5"/>
          <p:cNvSpPr>
            <a:spLocks noGrp="1"/>
          </p:cNvSpPr>
          <p:nvPr>
            <p:ph type="sldNum" sz="quarter" idx="12"/>
          </p:nvPr>
        </p:nvSpPr>
        <p:spPr/>
        <p:txBody>
          <a:bodyPr/>
          <a:lstStyle/>
          <a:p>
            <a:fld id="{7FA66E33-0C88-4211-9C3A-5E241118C80B}" type="slidenum">
              <a:rPr lang="en-IN" smtClean="0"/>
              <a:t>1</a:t>
            </a:fld>
            <a:endParaRPr lang="en-IN"/>
          </a:p>
        </p:txBody>
      </p:sp>
    </p:spTree>
    <p:extLst>
      <p:ext uri="{BB962C8B-B14F-4D97-AF65-F5344CB8AC3E}">
        <p14:creationId xmlns:p14="http://schemas.microsoft.com/office/powerpoint/2010/main" val="2335726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7FA66E33-0C88-4211-9C3A-5E241118C80B}" type="slidenum">
              <a:rPr lang="en-IN" smtClean="0"/>
              <a:t>4</a:t>
            </a:fld>
            <a:endParaRPr lang="en-IN"/>
          </a:p>
        </p:txBody>
      </p:sp>
      <p:sp>
        <p:nvSpPr>
          <p:cNvPr id="5" name="Date Placeholder 4"/>
          <p:cNvSpPr>
            <a:spLocks noGrp="1"/>
          </p:cNvSpPr>
          <p:nvPr>
            <p:ph type="dt" idx="11"/>
          </p:nvPr>
        </p:nvSpPr>
        <p:spPr/>
        <p:txBody>
          <a:bodyPr/>
          <a:lstStyle/>
          <a:p>
            <a:fld id="{6E9B7091-69C5-4CF7-8416-770ACF6B387E}" type="datetime1">
              <a:rPr lang="en-IN" smtClean="0"/>
              <a:t>01-03-2025</a:t>
            </a:fld>
            <a:endParaRPr lang="en-IN"/>
          </a:p>
        </p:txBody>
      </p:sp>
      <p:sp>
        <p:nvSpPr>
          <p:cNvPr id="6" name="Header Placeholder 5"/>
          <p:cNvSpPr>
            <a:spLocks noGrp="1"/>
          </p:cNvSpPr>
          <p:nvPr>
            <p:ph type="hdr" sz="quarter" idx="12"/>
          </p:nvPr>
        </p:nvSpPr>
        <p:spPr/>
        <p:txBody>
          <a:bodyPr/>
          <a:lstStyle/>
          <a:p>
            <a:endParaRPr lang="en-IN"/>
          </a:p>
        </p:txBody>
      </p:sp>
    </p:spTree>
    <p:extLst>
      <p:ext uri="{BB962C8B-B14F-4D97-AF65-F5344CB8AC3E}">
        <p14:creationId xmlns:p14="http://schemas.microsoft.com/office/powerpoint/2010/main" val="22937976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idx="10"/>
          </p:nvPr>
        </p:nvSpPr>
        <p:spPr/>
        <p:txBody>
          <a:bodyPr/>
          <a:lstStyle/>
          <a:p>
            <a:endParaRPr lang="en-IN"/>
          </a:p>
        </p:txBody>
      </p:sp>
      <p:sp>
        <p:nvSpPr>
          <p:cNvPr id="5" name="Date Placeholder 4"/>
          <p:cNvSpPr>
            <a:spLocks noGrp="1"/>
          </p:cNvSpPr>
          <p:nvPr>
            <p:ph type="dt" idx="11"/>
          </p:nvPr>
        </p:nvSpPr>
        <p:spPr/>
        <p:txBody>
          <a:bodyPr/>
          <a:lstStyle/>
          <a:p>
            <a:fld id="{5009B7CF-ACB9-42FE-8ABE-B862F050372E}" type="datetime1">
              <a:rPr lang="en-IN" smtClean="0"/>
              <a:t>01-03-2025</a:t>
            </a:fld>
            <a:endParaRPr lang="en-IN"/>
          </a:p>
        </p:txBody>
      </p:sp>
      <p:sp>
        <p:nvSpPr>
          <p:cNvPr id="6" name="Slide Number Placeholder 5"/>
          <p:cNvSpPr>
            <a:spLocks noGrp="1"/>
          </p:cNvSpPr>
          <p:nvPr>
            <p:ph type="sldNum" sz="quarter" idx="12"/>
          </p:nvPr>
        </p:nvSpPr>
        <p:spPr/>
        <p:txBody>
          <a:bodyPr/>
          <a:lstStyle/>
          <a:p>
            <a:fld id="{7FA66E33-0C88-4211-9C3A-5E241118C80B}" type="slidenum">
              <a:rPr lang="en-IN" smtClean="0"/>
              <a:t>14</a:t>
            </a:fld>
            <a:endParaRPr lang="en-IN"/>
          </a:p>
        </p:txBody>
      </p:sp>
    </p:spTree>
    <p:extLst>
      <p:ext uri="{BB962C8B-B14F-4D97-AF65-F5344CB8AC3E}">
        <p14:creationId xmlns:p14="http://schemas.microsoft.com/office/powerpoint/2010/main" val="4073498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06F676E-C7AD-473C-A816-AA85BD5D68C4}" type="datetime1">
              <a:rPr lang="en-IN" smtClean="0"/>
              <a:t>01-03-2025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834209818"/>
      </p:ext>
    </p:extLst>
  </p:cSld>
  <p:clrMapOvr>
    <a:masterClrMapping/>
  </p:clrMapOvr>
  <p:transition spd="slow">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013B94-742D-48D3-8FAB-AFA19A2F562D}" type="datetime1">
              <a:rPr lang="en-IN" smtClean="0"/>
              <a:t>01-03-2025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2907759199"/>
      </p:ext>
    </p:extLst>
  </p:cSld>
  <p:clrMapOvr>
    <a:masterClrMapping/>
  </p:clrMapOvr>
  <p:transition spd="slow">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A699E7-8785-4E44-B320-DFD041AD8CD5}" type="datetime1">
              <a:rPr lang="en-IN" smtClean="0"/>
              <a:t>01-03-2025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2630602934"/>
      </p:ext>
    </p:extLst>
  </p:cSld>
  <p:clrMapOvr>
    <a:masterClrMapping/>
  </p:clrMapOvr>
  <p:transition spd="slow">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F43FABB-6EEE-4A16-A212-9055CFBB4085}" type="datetime1">
              <a:rPr lang="en-IN" smtClean="0"/>
              <a:t>01-03-2025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1319737472"/>
      </p:ext>
    </p:extLst>
  </p:cSld>
  <p:clrMapOvr>
    <a:masterClrMapping/>
  </p:clrMapOvr>
  <p:transition spd="slow">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D807D41-23CF-4050-906B-16804A8FE85E}" type="datetime1">
              <a:rPr lang="en-IN" smtClean="0"/>
              <a:t>01-03-2025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3152430729"/>
      </p:ext>
    </p:extLst>
  </p:cSld>
  <p:clrMapOvr>
    <a:masterClrMapping/>
  </p:clrMapOvr>
  <p:transition spd="slow">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392B7E-44CF-48F1-87CC-A61C82524D38}" type="datetime1">
              <a:rPr lang="en-IN" smtClean="0"/>
              <a:t>01-03-2025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290956878"/>
      </p:ext>
    </p:extLst>
  </p:cSld>
  <p:clrMapOvr>
    <a:masterClrMapping/>
  </p:clrMapOvr>
  <p:transition spd="slow">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943351-109D-42C9-8BD6-281C6608D771}" type="datetime1">
              <a:rPr lang="en-IN" smtClean="0"/>
              <a:t>01-03-2025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2980362194"/>
      </p:ext>
    </p:extLst>
  </p:cSld>
  <p:clrMapOvr>
    <a:masterClrMapping/>
  </p:clrMapOvr>
  <p:transition spd="slow">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E88D254-F59B-434E-A3B4-CA93A111A004}" type="datetime1">
              <a:rPr lang="en-IN" smtClean="0"/>
              <a:t>01-03-2025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2751476275"/>
      </p:ext>
    </p:extLst>
  </p:cSld>
  <p:clrMapOvr>
    <a:masterClrMapping/>
  </p:clrMapOvr>
  <p:transition spd="slow">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449517-4CD1-49D2-AB74-6B32FA15035D}" type="datetime1">
              <a:rPr lang="en-IN" smtClean="0"/>
              <a:t>01-03-2025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730277174"/>
      </p:ext>
    </p:extLst>
  </p:cSld>
  <p:clrMapOvr>
    <a:masterClrMapping/>
  </p:clrMapOvr>
  <p:transition spd="slow">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B60A91-F398-48BF-896E-3B8F0FE0EDBE}" type="datetime1">
              <a:rPr lang="en-IN" smtClean="0"/>
              <a:t>01-03-2025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3282279857"/>
      </p:ext>
    </p:extLst>
  </p:cSld>
  <p:clrMapOvr>
    <a:masterClrMapping/>
  </p:clrMapOvr>
  <p:transition spd="slow">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E9D4CC-2580-4F9E-BBBA-A8068DBDE922}" type="datetime1">
              <a:rPr lang="en-IN" smtClean="0"/>
              <a:t>01-03-2025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4184640369"/>
      </p:ext>
    </p:extLst>
  </p:cSld>
  <p:clrMapOvr>
    <a:masterClrMapping/>
  </p:clrMapOvr>
  <p:transition spd="slow">
    <p:cove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D79E0D-360A-46C1-9DAF-82FEC8E8E546}" type="datetime1">
              <a:rPr lang="en-IN" smtClean="0"/>
              <a:t>01-03-2025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CD4CE9-F1A3-4728-B74D-DBF6FEAF9982}" type="slidenum">
              <a:rPr lang="en-IN" smtClean="0"/>
              <a:t>‹#›</a:t>
            </a:fld>
            <a:endParaRPr lang="en-IN"/>
          </a:p>
        </p:txBody>
      </p:sp>
    </p:spTree>
    <p:extLst>
      <p:ext uri="{BB962C8B-B14F-4D97-AF65-F5344CB8AC3E}">
        <p14:creationId xmlns:p14="http://schemas.microsoft.com/office/powerpoint/2010/main" val="2011757551"/>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Lst>
  <p:transition spd="slow">
    <p:cover/>
  </p:transition>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gnosis.io/" TargetMode="External"/><Relationship Id="rId2" Type="http://schemas.openxmlformats.org/officeDocument/2006/relationships/hyperlink" Target="https://web3js.readthedocs.io/" TargetMode="Externa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D28FE-C339-4B85-9ADA-4874000C2C14}"/>
              </a:ext>
            </a:extLst>
          </p:cNvPr>
          <p:cNvSpPr>
            <a:spLocks noGrp="1"/>
          </p:cNvSpPr>
          <p:nvPr>
            <p:ph type="ctrTitle"/>
          </p:nvPr>
        </p:nvSpPr>
        <p:spPr>
          <a:xfrm>
            <a:off x="1373343" y="2142753"/>
            <a:ext cx="9555211" cy="1323515"/>
          </a:xfrm>
        </p:spPr>
        <p:txBody>
          <a:bodyPr>
            <a:normAutofit fontScale="90000"/>
          </a:bodyPr>
          <a:lstStyle/>
          <a:p>
            <a:pPr algn="ctr">
              <a:lnSpc>
                <a:spcPct val="107000"/>
              </a:lnSpc>
              <a:spcAft>
                <a:spcPts val="800"/>
              </a:spcAft>
            </a:pPr>
            <a:br>
              <a:rPr lang="en-US" sz="2700" b="1" u="sng" dirty="0">
                <a:solidFill>
                  <a:schemeClr val="tx1"/>
                </a:solidFill>
                <a:latin typeface="Times New Roman" panose="02020603050405020304" pitchFamily="18" charset="0"/>
                <a:cs typeface="Times New Roman" panose="02020603050405020304" pitchFamily="18" charset="0"/>
              </a:rPr>
            </a:br>
            <a:br>
              <a:rPr lang="en-US" sz="2700" b="1" u="sng" dirty="0">
                <a:solidFill>
                  <a:schemeClr val="tx1"/>
                </a:solidFill>
                <a:latin typeface="Times New Roman" panose="02020603050405020304" pitchFamily="18" charset="0"/>
                <a:cs typeface="Times New Roman" panose="02020603050405020304" pitchFamily="18" charset="0"/>
              </a:rPr>
            </a:br>
            <a:br>
              <a:rPr lang="en-US" sz="2700" b="1" u="sng" dirty="0">
                <a:solidFill>
                  <a:schemeClr val="tx1"/>
                </a:solidFill>
                <a:latin typeface="Times New Roman" panose="02020603050405020304" pitchFamily="18" charset="0"/>
                <a:cs typeface="Times New Roman" panose="02020603050405020304" pitchFamily="18" charset="0"/>
              </a:rPr>
            </a:br>
            <a:br>
              <a:rPr lang="en-US" sz="2700" b="1" u="sng" dirty="0">
                <a:solidFill>
                  <a:schemeClr val="tx1"/>
                </a:solidFill>
                <a:latin typeface="Times New Roman" panose="02020603050405020304" pitchFamily="18" charset="0"/>
                <a:cs typeface="Times New Roman" panose="02020603050405020304" pitchFamily="18" charset="0"/>
              </a:rPr>
            </a:br>
            <a:r>
              <a:rPr lang="en-US" sz="2200" b="1" u="sng" dirty="0">
                <a:solidFill>
                  <a:schemeClr val="tx1"/>
                </a:solidFill>
                <a:latin typeface="Times New Roman" panose="02020603050405020304" pitchFamily="18" charset="0"/>
                <a:cs typeface="Times New Roman" panose="02020603050405020304" pitchFamily="18" charset="0"/>
              </a:rPr>
              <a:t>MINOR PROJECT ABSTRACT REVIEW </a:t>
            </a:r>
            <a:br>
              <a:rPr lang="en-US" sz="2700" b="1" u="sng" dirty="0">
                <a:solidFill>
                  <a:schemeClr val="tx1"/>
                </a:solidFill>
                <a:latin typeface="Times New Roman" panose="02020603050405020304" pitchFamily="18" charset="0"/>
                <a:cs typeface="Times New Roman" panose="02020603050405020304" pitchFamily="18" charset="0"/>
              </a:rPr>
            </a:br>
            <a:br>
              <a:rPr lang="en-US" sz="2200" b="1" dirty="0">
                <a:solidFill>
                  <a:schemeClr val="tx1"/>
                </a:solidFill>
                <a:latin typeface="Times New Roman" panose="02020603050405020304" pitchFamily="18" charset="0"/>
                <a:cs typeface="Times New Roman" panose="02020603050405020304" pitchFamily="18" charset="0"/>
              </a:rPr>
            </a:b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TITLE :</a:t>
            </a:r>
            <a:r>
              <a:rPr lang="en-IN" sz="2400" b="1" dirty="0">
                <a:solidFill>
                  <a:srgbClr val="000000"/>
                </a:solidFill>
                <a:effectLst/>
                <a:latin typeface="Times New Roman" panose="02020603050405020304" pitchFamily="18" charset="0"/>
                <a:ea typeface="Times New Roman" panose="02020603050405020304" pitchFamily="18" charset="0"/>
              </a:rPr>
              <a:t> Blockchain-Based Prediction Market</a:t>
            </a:r>
            <a:br>
              <a:rPr lang="en-IN" sz="1600" dirty="0">
                <a:effectLst/>
                <a:latin typeface="Calibri" panose="020F0502020204030204" pitchFamily="34" charset="0"/>
                <a:ea typeface="Calibri" panose="020F0502020204030204" pitchFamily="34" charset="0"/>
              </a:rPr>
            </a:br>
            <a:endParaRPr lang="en-IN" sz="2200" b="1" dirty="0">
              <a:solidFill>
                <a:schemeClr val="tx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3F6D609-5DA3-319B-2F8E-D4C1C7EF0398}"/>
              </a:ext>
            </a:extLst>
          </p:cNvPr>
          <p:cNvSpPr>
            <a:spLocks noGrp="1"/>
          </p:cNvSpPr>
          <p:nvPr>
            <p:ph type="subTitle" idx="1"/>
          </p:nvPr>
        </p:nvSpPr>
        <p:spPr>
          <a:xfrm>
            <a:off x="6949440" y="4374080"/>
            <a:ext cx="4589417" cy="1968663"/>
          </a:xfrm>
        </p:spPr>
        <p:txBody>
          <a:bodyPr>
            <a:normAutofit/>
          </a:bodyPr>
          <a:lstStyle/>
          <a:p>
            <a:r>
              <a:rPr lang="en-US" sz="2000" b="1" u="sng" dirty="0">
                <a:solidFill>
                  <a:schemeClr val="tx1"/>
                </a:solidFill>
                <a:latin typeface="Times New Roman" panose="02020603050405020304" pitchFamily="18" charset="0"/>
                <a:cs typeface="Times New Roman" panose="02020603050405020304" pitchFamily="18" charset="0"/>
              </a:rPr>
              <a:t>Team Members (21MP01)</a:t>
            </a:r>
            <a:endParaRPr lang="en-US" sz="2000" b="1" dirty="0">
              <a:solidFill>
                <a:schemeClr val="tx1"/>
              </a:solidFill>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Kushal Parihar</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  </a:t>
            </a:r>
            <a:r>
              <a:rPr lang="en-US" sz="2000" b="1" dirty="0">
                <a:solidFill>
                  <a:schemeClr val="tx1"/>
                </a:solidFill>
                <a:latin typeface="Times New Roman" panose="02020603050405020304" pitchFamily="18" charset="0"/>
                <a:cs typeface="Times New Roman" panose="02020603050405020304" pitchFamily="18" charset="0"/>
              </a:rPr>
              <a:t>22P61A05D1</a:t>
            </a:r>
          </a:p>
          <a:p>
            <a:pPr algn="just"/>
            <a:r>
              <a:rPr lang="en-US" sz="2000" b="1" dirty="0" err="1">
                <a:latin typeface="Times New Roman" panose="02020603050405020304" pitchFamily="18" charset="0"/>
                <a:cs typeface="Times New Roman" panose="02020603050405020304" pitchFamily="18" charset="0"/>
              </a:rPr>
              <a:t>M.Deekshith</a:t>
            </a:r>
            <a:r>
              <a:rPr lang="en-US" sz="2000" b="1" dirty="0">
                <a:latin typeface="Times New Roman" panose="02020603050405020304" pitchFamily="18" charset="0"/>
                <a:cs typeface="Times New Roman" panose="02020603050405020304" pitchFamily="18" charset="0"/>
              </a:rPr>
              <a:t> Reddy</a:t>
            </a:r>
            <a:r>
              <a:rPr lang="en-US" sz="2000" b="1" dirty="0">
                <a:solidFill>
                  <a:schemeClr val="tx1"/>
                </a:solidFill>
                <a:latin typeface="Times New Roman" panose="02020603050405020304" pitchFamily="18" charset="0"/>
                <a:cs typeface="Times New Roman" panose="02020603050405020304" pitchFamily="18" charset="0"/>
              </a:rPr>
              <a:t>    - </a:t>
            </a:r>
            <a:r>
              <a:rPr lang="en-US" sz="2000" b="1" dirty="0">
                <a:latin typeface="Times New Roman" panose="02020603050405020304" pitchFamily="18" charset="0"/>
                <a:cs typeface="Times New Roman" panose="02020603050405020304" pitchFamily="18" charset="0"/>
              </a:rPr>
              <a:t>  </a:t>
            </a:r>
            <a:r>
              <a:rPr lang="en-US" sz="2000" b="1" dirty="0">
                <a:solidFill>
                  <a:schemeClr val="tx1"/>
                </a:solidFill>
                <a:latin typeface="Times New Roman" panose="02020603050405020304" pitchFamily="18" charset="0"/>
                <a:cs typeface="Times New Roman" panose="02020603050405020304" pitchFamily="18" charset="0"/>
              </a:rPr>
              <a:t>22P61A05D4</a:t>
            </a:r>
          </a:p>
          <a:p>
            <a:pPr algn="just"/>
            <a:r>
              <a:rPr lang="en-US" sz="2000" b="1" dirty="0" err="1">
                <a:latin typeface="Times New Roman" panose="02020603050405020304" pitchFamily="18" charset="0"/>
                <a:cs typeface="Times New Roman" panose="02020603050405020304" pitchFamily="18" charset="0"/>
              </a:rPr>
              <a:t>P.Ram</a:t>
            </a:r>
            <a:r>
              <a:rPr lang="en-US" sz="2000" b="1" dirty="0">
                <a:latin typeface="Times New Roman" panose="02020603050405020304" pitchFamily="18" charset="0"/>
                <a:cs typeface="Times New Roman" panose="02020603050405020304" pitchFamily="18" charset="0"/>
              </a:rPr>
              <a:t> Charam            -  </a:t>
            </a:r>
            <a:r>
              <a:rPr lang="en-US" sz="2000" b="1" dirty="0">
                <a:solidFill>
                  <a:schemeClr val="tx1"/>
                </a:solidFill>
                <a:latin typeface="Times New Roman" panose="02020603050405020304" pitchFamily="18" charset="0"/>
                <a:cs typeface="Times New Roman" panose="02020603050405020304" pitchFamily="18" charset="0"/>
              </a:rPr>
              <a:t>22P61A05I6</a:t>
            </a:r>
          </a:p>
        </p:txBody>
      </p:sp>
      <p:sp>
        <p:nvSpPr>
          <p:cNvPr id="7" name="Slide Number Placeholder 6">
            <a:extLst>
              <a:ext uri="{FF2B5EF4-FFF2-40B4-BE49-F238E27FC236}">
                <a16:creationId xmlns:a16="http://schemas.microsoft.com/office/drawing/2014/main" id="{B1C3663B-1F80-A0AC-23EF-395E2C782DA0}"/>
              </a:ext>
            </a:extLst>
          </p:cNvPr>
          <p:cNvSpPr>
            <a:spLocks noGrp="1"/>
          </p:cNvSpPr>
          <p:nvPr>
            <p:ph type="sldNum" sz="quarter" idx="12"/>
          </p:nvPr>
        </p:nvSpPr>
        <p:spPr/>
        <p:txBody>
          <a:bodyPr/>
          <a:lstStyle/>
          <a:p>
            <a:fld id="{79CD4CE9-F1A3-4728-B74D-DBF6FEAF9982}" type="slidenum">
              <a:rPr lang="en-IN" sz="1600" smtClean="0"/>
              <a:t>1</a:t>
            </a:fld>
            <a:endParaRPr lang="en-IN" sz="1600" dirty="0"/>
          </a:p>
        </p:txBody>
      </p:sp>
      <p:sp>
        <p:nvSpPr>
          <p:cNvPr id="4" name="TextBox 3">
            <a:extLst>
              <a:ext uri="{FF2B5EF4-FFF2-40B4-BE49-F238E27FC236}">
                <a16:creationId xmlns:a16="http://schemas.microsoft.com/office/drawing/2014/main" id="{613112D3-93D6-C1FE-73A6-31F2DFA17AB2}"/>
              </a:ext>
            </a:extLst>
          </p:cNvPr>
          <p:cNvSpPr txBox="1"/>
          <p:nvPr/>
        </p:nvSpPr>
        <p:spPr>
          <a:xfrm>
            <a:off x="-136715" y="4436420"/>
            <a:ext cx="4709651" cy="1323439"/>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  Project Guide</a:t>
            </a:r>
          </a:p>
          <a:p>
            <a:pPr algn="ctr"/>
            <a:endParaRPr lang="en-IN" sz="2000" b="1" i="0" dirty="0">
              <a:solidFill>
                <a:srgbClr val="32373C"/>
              </a:solidFill>
              <a:effectLst/>
              <a:latin typeface="Times New Roman" panose="02020603050405020304" pitchFamily="18" charset="0"/>
              <a:ea typeface="Tahoma" panose="020B0604030504040204" pitchFamily="34" charset="0"/>
              <a:cs typeface="Times New Roman" panose="02020603050405020304" pitchFamily="18" charset="0"/>
            </a:endParaRPr>
          </a:p>
          <a:p>
            <a:pPr algn="ctr"/>
            <a:r>
              <a:rPr lang="en-IN" sz="2000" b="1" i="0" dirty="0">
                <a:solidFill>
                  <a:srgbClr val="32373C"/>
                </a:solidFill>
                <a:effectLst/>
                <a:latin typeface="Times New Roman" panose="02020603050405020304" pitchFamily="18" charset="0"/>
                <a:ea typeface="Tahoma" panose="020B0604030504040204" pitchFamily="34" charset="0"/>
                <a:cs typeface="Times New Roman" panose="02020603050405020304" pitchFamily="18" charset="0"/>
              </a:rPr>
              <a:t>Associate Professor</a:t>
            </a: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E5ED9B0-11AE-C0F1-E97C-EEBD310143E8}"/>
              </a:ext>
            </a:extLst>
          </p:cNvPr>
          <p:cNvSpPr txBox="1"/>
          <p:nvPr/>
        </p:nvSpPr>
        <p:spPr>
          <a:xfrm>
            <a:off x="1425675" y="1420639"/>
            <a:ext cx="10068232" cy="400110"/>
          </a:xfrm>
          <a:prstGeom prst="rect">
            <a:avLst/>
          </a:prstGeom>
          <a:noFill/>
        </p:spPr>
        <p:txBody>
          <a:bodyPr wrap="square" rtlCol="0">
            <a:spAutoFit/>
          </a:bodyPr>
          <a:lstStyle/>
          <a:p>
            <a:endParaRPr lang="en-IN" sz="2000" b="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429120CC-5545-23FF-703F-490E7D4302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8240" y="198132"/>
            <a:ext cx="10257347" cy="1493016"/>
          </a:xfrm>
          <a:prstGeom prst="rect">
            <a:avLst/>
          </a:prstGeom>
        </p:spPr>
      </p:pic>
      <p:sp>
        <p:nvSpPr>
          <p:cNvPr id="11" name="TextBox 10">
            <a:extLst>
              <a:ext uri="{FF2B5EF4-FFF2-40B4-BE49-F238E27FC236}">
                <a16:creationId xmlns:a16="http://schemas.microsoft.com/office/drawing/2014/main" id="{1D49AC7F-EC32-049A-EFD5-F612F0E93934}"/>
              </a:ext>
            </a:extLst>
          </p:cNvPr>
          <p:cNvSpPr txBox="1"/>
          <p:nvPr/>
        </p:nvSpPr>
        <p:spPr>
          <a:xfrm>
            <a:off x="1774722" y="1681088"/>
            <a:ext cx="9153832"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DEPARTMENT OF COMPUTER SCIENCE AND ENGINEERING</a:t>
            </a:r>
          </a:p>
        </p:txBody>
      </p:sp>
      <p:sp>
        <p:nvSpPr>
          <p:cNvPr id="6" name="Date Placeholder 5"/>
          <p:cNvSpPr>
            <a:spLocks noGrp="1"/>
          </p:cNvSpPr>
          <p:nvPr>
            <p:ph type="dt" sz="half" idx="10"/>
          </p:nvPr>
        </p:nvSpPr>
        <p:spPr/>
        <p:txBody>
          <a:bodyPr/>
          <a:lstStyle/>
          <a:p>
            <a:fld id="{90B4C2E0-F28C-4B2F-BEC1-17711C4EC78E}" type="datetime1">
              <a:rPr lang="en-IN" smtClean="0"/>
              <a:t>01-03-2025</a:t>
            </a:fld>
            <a:endParaRPr lang="en-IN"/>
          </a:p>
        </p:txBody>
      </p:sp>
    </p:spTree>
    <p:extLst>
      <p:ext uri="{BB962C8B-B14F-4D97-AF65-F5344CB8AC3E}">
        <p14:creationId xmlns:p14="http://schemas.microsoft.com/office/powerpoint/2010/main" val="2314816490"/>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D3AF225-BAA8-0DA6-CABD-134797BDA032}"/>
              </a:ext>
            </a:extLst>
          </p:cNvPr>
          <p:cNvSpPr>
            <a:spLocks noGrp="1"/>
          </p:cNvSpPr>
          <p:nvPr>
            <p:ph type="sldNum" sz="quarter" idx="12"/>
          </p:nvPr>
        </p:nvSpPr>
        <p:spPr>
          <a:xfrm>
            <a:off x="8646242" y="6247497"/>
            <a:ext cx="2743200" cy="365125"/>
          </a:xfrm>
        </p:spPr>
        <p:txBody>
          <a:bodyPr/>
          <a:lstStyle/>
          <a:p>
            <a:r>
              <a:rPr lang="en-IN" sz="1600" dirty="0">
                <a:solidFill>
                  <a:schemeClr val="tx1"/>
                </a:solidFill>
              </a:rPr>
              <a:t>3</a:t>
            </a:r>
          </a:p>
        </p:txBody>
      </p:sp>
      <p:sp>
        <p:nvSpPr>
          <p:cNvPr id="6" name="TextBox 5">
            <a:extLst>
              <a:ext uri="{FF2B5EF4-FFF2-40B4-BE49-F238E27FC236}">
                <a16:creationId xmlns:a16="http://schemas.microsoft.com/office/drawing/2014/main" id="{2F3050A8-0C00-3A11-B230-B07B21E9289D}"/>
              </a:ext>
            </a:extLst>
          </p:cNvPr>
          <p:cNvSpPr txBox="1"/>
          <p:nvPr/>
        </p:nvSpPr>
        <p:spPr>
          <a:xfrm>
            <a:off x="478971" y="601959"/>
            <a:ext cx="11016343" cy="5806013"/>
          </a:xfrm>
          <a:prstGeom prst="rect">
            <a:avLst/>
          </a:prstGeom>
          <a:noFill/>
        </p:spPr>
        <p:txBody>
          <a:bodyPr wrap="square" rtlCol="0">
            <a:spAutoFit/>
          </a:bodyPr>
          <a:lstStyle/>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Abstract</a:t>
            </a:r>
          </a:p>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Introduction</a:t>
            </a:r>
          </a:p>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Existing system</a:t>
            </a:r>
          </a:p>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Proposed system</a:t>
            </a:r>
          </a:p>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Problem statement</a:t>
            </a:r>
          </a:p>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Objective </a:t>
            </a:r>
          </a:p>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Proposed Methodology</a:t>
            </a:r>
          </a:p>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Advantages of Proposed System</a:t>
            </a:r>
          </a:p>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Requirements &amp; Specification</a:t>
            </a:r>
          </a:p>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Project Time Plan</a:t>
            </a:r>
          </a:p>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Conclusion</a:t>
            </a:r>
          </a:p>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BE3B757E-FB15-995B-7545-0CCF2D46A292}"/>
              </a:ext>
            </a:extLst>
          </p:cNvPr>
          <p:cNvSpPr txBox="1">
            <a:spLocks/>
          </p:cNvSpPr>
          <p:nvPr/>
        </p:nvSpPr>
        <p:spPr>
          <a:xfrm>
            <a:off x="1171476" y="4548971"/>
            <a:ext cx="10380690" cy="211187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defTabSz="914400" rtl="0" eaLnBrk="0" fontAlgn="base" latinLnBrk="0" hangingPunct="0">
              <a:lnSpc>
                <a:spcPct val="100000"/>
              </a:lnSpc>
              <a:spcBef>
                <a:spcPct val="0"/>
              </a:spcBef>
              <a:spcAft>
                <a:spcPct val="0"/>
              </a:spcAft>
              <a:buClrTx/>
              <a:buSzTx/>
              <a:tabLst/>
            </a:pPr>
            <a:endParaRPr lang="en-IN" sz="1600" dirty="0">
              <a:latin typeface="Times New Roman" panose="02020603050405020304" pitchFamily="18" charset="0"/>
              <a:cs typeface="Times New Roman" panose="02020603050405020304" pitchFamily="18" charset="0"/>
            </a:endParaRPr>
          </a:p>
        </p:txBody>
      </p:sp>
      <p:sp>
        <p:nvSpPr>
          <p:cNvPr id="9" name="Rectangle 2">
            <a:extLst>
              <a:ext uri="{FF2B5EF4-FFF2-40B4-BE49-F238E27FC236}">
                <a16:creationId xmlns:a16="http://schemas.microsoft.com/office/drawing/2014/main" id="{67D59B85-3AEE-6463-A3D9-D90A9A60FCE6}"/>
              </a:ext>
            </a:extLst>
          </p:cNvPr>
          <p:cNvSpPr>
            <a:spLocks noChangeArrowheads="1"/>
          </p:cNvSpPr>
          <p:nvPr/>
        </p:nvSpPr>
        <p:spPr bwMode="auto">
          <a:xfrm>
            <a:off x="2362200" y="2941142"/>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69600" y="0"/>
            <a:ext cx="1422400" cy="928913"/>
          </a:xfrm>
          <a:prstGeom prst="rect">
            <a:avLst/>
          </a:prstGeom>
        </p:spPr>
      </p:pic>
      <p:sp>
        <p:nvSpPr>
          <p:cNvPr id="7" name="Rectangle 6"/>
          <p:cNvSpPr/>
          <p:nvPr/>
        </p:nvSpPr>
        <p:spPr>
          <a:xfrm>
            <a:off x="5172090" y="210848"/>
            <a:ext cx="1604927"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OUTLINE</a:t>
            </a:r>
            <a:endParaRPr lang="en-IN" sz="2400" dirty="0"/>
          </a:p>
        </p:txBody>
      </p:sp>
      <p:cxnSp>
        <p:nvCxnSpPr>
          <p:cNvPr id="11" name="Straight Connector 10"/>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13" name="Date Placeholder 12"/>
          <p:cNvSpPr>
            <a:spLocks noGrp="1"/>
          </p:cNvSpPr>
          <p:nvPr>
            <p:ph type="dt" sz="half" idx="10"/>
          </p:nvPr>
        </p:nvSpPr>
        <p:spPr/>
        <p:txBody>
          <a:bodyPr/>
          <a:lstStyle/>
          <a:p>
            <a:fld id="{23107CEA-DD57-428F-9D8A-BDBA9F595E3E}" type="datetime1">
              <a:rPr lang="en-IN" smtClean="0"/>
              <a:t>01-03-2025</a:t>
            </a:fld>
            <a:endParaRPr lang="en-IN"/>
          </a:p>
        </p:txBody>
      </p:sp>
    </p:spTree>
    <p:extLst>
      <p:ext uri="{BB962C8B-B14F-4D97-AF65-F5344CB8AC3E}">
        <p14:creationId xmlns:p14="http://schemas.microsoft.com/office/powerpoint/2010/main" val="1662761609"/>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D3AF225-BAA8-0DA6-CABD-134797BDA032}"/>
              </a:ext>
            </a:extLst>
          </p:cNvPr>
          <p:cNvSpPr>
            <a:spLocks noGrp="1"/>
          </p:cNvSpPr>
          <p:nvPr>
            <p:ph type="sldNum" sz="quarter" idx="12"/>
          </p:nvPr>
        </p:nvSpPr>
        <p:spPr>
          <a:xfrm>
            <a:off x="8646242" y="6247497"/>
            <a:ext cx="2743200" cy="365125"/>
          </a:xfrm>
        </p:spPr>
        <p:txBody>
          <a:bodyPr/>
          <a:lstStyle/>
          <a:p>
            <a:r>
              <a:rPr lang="en-IN" sz="1600" dirty="0">
                <a:solidFill>
                  <a:schemeClr val="tx1"/>
                </a:solidFill>
              </a:rPr>
              <a:t>3</a:t>
            </a:r>
          </a:p>
        </p:txBody>
      </p:sp>
      <p:sp>
        <p:nvSpPr>
          <p:cNvPr id="6" name="TextBox 5">
            <a:extLst>
              <a:ext uri="{FF2B5EF4-FFF2-40B4-BE49-F238E27FC236}">
                <a16:creationId xmlns:a16="http://schemas.microsoft.com/office/drawing/2014/main" id="{2F3050A8-0C00-3A11-B230-B07B21E9289D}"/>
              </a:ext>
            </a:extLst>
          </p:cNvPr>
          <p:cNvSpPr txBox="1"/>
          <p:nvPr/>
        </p:nvSpPr>
        <p:spPr>
          <a:xfrm>
            <a:off x="405240" y="1124468"/>
            <a:ext cx="11248570" cy="4401205"/>
          </a:xfrm>
          <a:prstGeom prst="rect">
            <a:avLst/>
          </a:prstGeom>
          <a:noFill/>
        </p:spPr>
        <p:txBody>
          <a:bodyPr wrap="square" rtlCol="0">
            <a:spAutoFit/>
          </a:bodyPr>
          <a:lstStyle/>
          <a:p>
            <a:r>
              <a:rPr lang="en-IN" sz="2000" dirty="0">
                <a:effectLst/>
                <a:latin typeface="Times New Roman" panose="02020603050405020304" pitchFamily="18" charset="0"/>
                <a:ea typeface="Times New Roman" panose="02020603050405020304" pitchFamily="18" charset="0"/>
              </a:rPr>
              <a:t>The proposed </a:t>
            </a:r>
            <a:r>
              <a:rPr lang="en-IN" sz="2000" b="1" dirty="0">
                <a:effectLst/>
                <a:latin typeface="Times New Roman" panose="02020603050405020304" pitchFamily="18" charset="0"/>
                <a:ea typeface="Times New Roman" panose="02020603050405020304" pitchFamily="18" charset="0"/>
              </a:rPr>
              <a:t>Blockchain-Based Prediction Market</a:t>
            </a:r>
            <a:r>
              <a:rPr lang="en-IN" sz="2000" dirty="0">
                <a:effectLst/>
                <a:latin typeface="Times New Roman" panose="02020603050405020304" pitchFamily="18" charset="0"/>
                <a:ea typeface="Times New Roman" panose="02020603050405020304" pitchFamily="18" charset="0"/>
              </a:rPr>
              <a:t> leverages Ethereum smart contracts to deliver reliable, transparent, and decentralized prediction services. Users can create prediction events, set deadlines, and enable participants to contribute their insights by making claims. By utilizing blockchain technology, the system ensures trust, immutability, and independence from centralized authorities, enhancing transparency and reliability.</a:t>
            </a:r>
          </a:p>
          <a:p>
            <a:r>
              <a:rPr lang="en-IN" sz="2000" dirty="0">
                <a:effectLst/>
                <a:latin typeface="Times New Roman" panose="02020603050405020304" pitchFamily="18" charset="0"/>
                <a:ea typeface="Times New Roman" panose="02020603050405020304" pitchFamily="18" charset="0"/>
              </a:rPr>
              <a:t>The project integrates </a:t>
            </a:r>
            <a:r>
              <a:rPr lang="en-IN" sz="2000" b="1" dirty="0">
                <a:effectLst/>
                <a:latin typeface="Times New Roman" panose="02020603050405020304" pitchFamily="18" charset="0"/>
                <a:ea typeface="Times New Roman" panose="02020603050405020304" pitchFamily="18" charset="0"/>
              </a:rPr>
              <a:t>Solidity</a:t>
            </a:r>
            <a:r>
              <a:rPr lang="en-IN" sz="2000" dirty="0">
                <a:effectLst/>
                <a:latin typeface="Times New Roman" panose="02020603050405020304" pitchFamily="18" charset="0"/>
                <a:ea typeface="Times New Roman" panose="02020603050405020304" pitchFamily="18" charset="0"/>
              </a:rPr>
              <a:t> for smart contract development and </a:t>
            </a:r>
            <a:r>
              <a:rPr lang="en-IN" sz="2000" b="1" dirty="0">
                <a:effectLst/>
                <a:latin typeface="Times New Roman" panose="02020603050405020304" pitchFamily="18" charset="0"/>
                <a:ea typeface="Times New Roman" panose="02020603050405020304" pitchFamily="18" charset="0"/>
              </a:rPr>
              <a:t>React.js</a:t>
            </a:r>
            <a:r>
              <a:rPr lang="en-IN" sz="2000" dirty="0">
                <a:effectLst/>
                <a:latin typeface="Times New Roman" panose="02020603050405020304" pitchFamily="18" charset="0"/>
                <a:ea typeface="Times New Roman" panose="02020603050405020304" pitchFamily="18" charset="0"/>
              </a:rPr>
              <a:t> for building an intuitive and interactive frontend interface. Interaction between the frontend and blockchain is facilitated using </a:t>
            </a:r>
            <a:r>
              <a:rPr lang="en-IN" sz="2000" b="1" dirty="0">
                <a:effectLst/>
                <a:latin typeface="Times New Roman" panose="02020603050405020304" pitchFamily="18" charset="0"/>
                <a:ea typeface="Times New Roman" panose="02020603050405020304" pitchFamily="18" charset="0"/>
              </a:rPr>
              <a:t>Ethers.js/Web3.js</a:t>
            </a:r>
            <a:r>
              <a:rPr lang="en-IN" sz="2000" dirty="0">
                <a:effectLst/>
                <a:latin typeface="Times New Roman" panose="02020603050405020304" pitchFamily="18" charset="0"/>
                <a:ea typeface="Times New Roman" panose="02020603050405020304" pitchFamily="18" charset="0"/>
              </a:rPr>
              <a:t>, while tools like </a:t>
            </a:r>
            <a:r>
              <a:rPr lang="en-IN" sz="2000" b="1" dirty="0">
                <a:effectLst/>
                <a:latin typeface="Times New Roman" panose="02020603050405020304" pitchFamily="18" charset="0"/>
                <a:ea typeface="Times New Roman" panose="02020603050405020304" pitchFamily="18" charset="0"/>
              </a:rPr>
              <a:t>Truffle</a:t>
            </a:r>
            <a:r>
              <a:rPr lang="en-IN" sz="2000" dirty="0">
                <a:effectLst/>
                <a:latin typeface="Times New Roman" panose="02020603050405020304" pitchFamily="18" charset="0"/>
                <a:ea typeface="Times New Roman" panose="02020603050405020304" pitchFamily="18" charset="0"/>
              </a:rPr>
              <a:t> and </a:t>
            </a:r>
            <a:r>
              <a:rPr lang="en-IN" sz="2000" b="1" dirty="0">
                <a:effectLst/>
                <a:latin typeface="Times New Roman" panose="02020603050405020304" pitchFamily="18" charset="0"/>
                <a:ea typeface="Times New Roman" panose="02020603050405020304" pitchFamily="18" charset="0"/>
              </a:rPr>
              <a:t>Ganache</a:t>
            </a:r>
            <a:r>
              <a:rPr lang="en-IN" sz="2000" dirty="0">
                <a:effectLst/>
                <a:latin typeface="Times New Roman" panose="02020603050405020304" pitchFamily="18" charset="0"/>
                <a:ea typeface="Times New Roman" panose="02020603050405020304" pitchFamily="18" charset="0"/>
              </a:rPr>
              <a:t> streamline local blockchain development and testing. The smart contract features include event creation, participant registration, bet placement, outcome resolution, and prize distribution.</a:t>
            </a:r>
          </a:p>
          <a:p>
            <a:r>
              <a:rPr lang="en-IN" sz="2000" dirty="0">
                <a:effectLst/>
                <a:latin typeface="Times New Roman" panose="02020603050405020304" pitchFamily="18" charset="0"/>
                <a:ea typeface="Times New Roman" panose="02020603050405020304" pitchFamily="18" charset="0"/>
              </a:rPr>
              <a:t>This platform has broad applications in finance, politics, sports, and market forecasting, offering a fair and transparent environment that minimizes the risk of manipulation. Employing game theory principles, the system ensures accurate and data-driven predictions, creating a robust engine for future event forecasting powered by blockchain.</a:t>
            </a:r>
          </a:p>
        </p:txBody>
      </p:sp>
      <p:sp>
        <p:nvSpPr>
          <p:cNvPr id="3" name="Title 1">
            <a:extLst>
              <a:ext uri="{FF2B5EF4-FFF2-40B4-BE49-F238E27FC236}">
                <a16:creationId xmlns:a16="http://schemas.microsoft.com/office/drawing/2014/main" id="{BE3B757E-FB15-995B-7545-0CCF2D46A292}"/>
              </a:ext>
            </a:extLst>
          </p:cNvPr>
          <p:cNvSpPr txBox="1">
            <a:spLocks/>
          </p:cNvSpPr>
          <p:nvPr/>
        </p:nvSpPr>
        <p:spPr>
          <a:xfrm>
            <a:off x="1171476" y="4548971"/>
            <a:ext cx="10380690" cy="211187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defTabSz="914400" rtl="0" eaLnBrk="0" fontAlgn="base" latinLnBrk="0" hangingPunct="0">
              <a:lnSpc>
                <a:spcPct val="100000"/>
              </a:lnSpc>
              <a:spcBef>
                <a:spcPct val="0"/>
              </a:spcBef>
              <a:spcAft>
                <a:spcPct val="0"/>
              </a:spcAft>
              <a:buClrTx/>
              <a:buSzTx/>
              <a:tabLst/>
            </a:pPr>
            <a:endParaRPr lang="en-IN" sz="1600" dirty="0">
              <a:latin typeface="Times New Roman" panose="02020603050405020304" pitchFamily="18" charset="0"/>
              <a:cs typeface="Times New Roman" panose="02020603050405020304" pitchFamily="18" charset="0"/>
            </a:endParaRPr>
          </a:p>
        </p:txBody>
      </p:sp>
      <p:sp>
        <p:nvSpPr>
          <p:cNvPr id="9" name="Rectangle 2">
            <a:extLst>
              <a:ext uri="{FF2B5EF4-FFF2-40B4-BE49-F238E27FC236}">
                <a16:creationId xmlns:a16="http://schemas.microsoft.com/office/drawing/2014/main" id="{67D59B85-3AEE-6463-A3D9-D90A9A60FCE6}"/>
              </a:ext>
            </a:extLst>
          </p:cNvPr>
          <p:cNvSpPr>
            <a:spLocks noChangeArrowheads="1"/>
          </p:cNvSpPr>
          <p:nvPr/>
        </p:nvSpPr>
        <p:spPr bwMode="auto">
          <a:xfrm>
            <a:off x="2362200" y="2941142"/>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69600" y="0"/>
            <a:ext cx="1422400" cy="928913"/>
          </a:xfrm>
          <a:prstGeom prst="rect">
            <a:avLst/>
          </a:prstGeom>
        </p:spPr>
      </p:pic>
      <p:sp>
        <p:nvSpPr>
          <p:cNvPr id="7" name="Rectangle 6"/>
          <p:cNvSpPr/>
          <p:nvPr/>
        </p:nvSpPr>
        <p:spPr>
          <a:xfrm>
            <a:off x="5172090" y="210848"/>
            <a:ext cx="1863011"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ABSTRACT</a:t>
            </a:r>
            <a:endParaRPr lang="en-IN" sz="2400" dirty="0"/>
          </a:p>
        </p:txBody>
      </p:sp>
      <p:cxnSp>
        <p:nvCxnSpPr>
          <p:cNvPr id="11" name="Straight Connector 10"/>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13" name="Date Placeholder 12"/>
          <p:cNvSpPr>
            <a:spLocks noGrp="1"/>
          </p:cNvSpPr>
          <p:nvPr>
            <p:ph type="dt" sz="half" idx="10"/>
          </p:nvPr>
        </p:nvSpPr>
        <p:spPr/>
        <p:txBody>
          <a:bodyPr/>
          <a:lstStyle/>
          <a:p>
            <a:fld id="{23107CEA-DD57-428F-9D8A-BDBA9F595E3E}" type="datetime1">
              <a:rPr lang="en-IN" smtClean="0"/>
              <a:t>01-03-2025</a:t>
            </a:fld>
            <a:endParaRPr lang="en-IN"/>
          </a:p>
        </p:txBody>
      </p:sp>
    </p:spTree>
    <p:extLst>
      <p:ext uri="{BB962C8B-B14F-4D97-AF65-F5344CB8AC3E}">
        <p14:creationId xmlns:p14="http://schemas.microsoft.com/office/powerpoint/2010/main" val="3967721438"/>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7F02BD-56B2-36CA-52E4-4FD6CF5818BC}"/>
              </a:ext>
            </a:extLst>
          </p:cNvPr>
          <p:cNvSpPr>
            <a:spLocks noGrp="1"/>
          </p:cNvSpPr>
          <p:nvPr>
            <p:ph idx="1"/>
          </p:nvPr>
        </p:nvSpPr>
        <p:spPr>
          <a:xfrm>
            <a:off x="446314" y="1223182"/>
            <a:ext cx="11034486" cy="5740627"/>
          </a:xfrm>
        </p:spPr>
        <p:txBody>
          <a:bodyPr>
            <a:normAutofit/>
          </a:bodyPr>
          <a:lstStyle/>
          <a:p>
            <a:r>
              <a:rPr lang="en-IN" sz="2000" dirty="0">
                <a:effectLst/>
                <a:latin typeface="Times New Roman" panose="02020603050405020304" pitchFamily="18" charset="0"/>
                <a:ea typeface="Times New Roman" panose="02020603050405020304" pitchFamily="18" charset="0"/>
              </a:rPr>
              <a:t>Blockchain technology has revolutionized decentralized systems by providing trust and transparency without relying on centralized entities. </a:t>
            </a:r>
          </a:p>
          <a:p>
            <a:r>
              <a:rPr lang="en-IN" sz="2000" dirty="0">
                <a:effectLst/>
                <a:latin typeface="Times New Roman" panose="02020603050405020304" pitchFamily="18" charset="0"/>
                <a:ea typeface="Times New Roman" panose="02020603050405020304" pitchFamily="18" charset="0"/>
              </a:rPr>
              <a:t>Prediction markets enable users to speculate on the outcomes of future events, creating valuable insights and fostering informed decision-making in various domains. However, traditional prediction markets often face challenges such as lack of transparency, centralized control, and susceptibility to manipulation.</a:t>
            </a:r>
          </a:p>
          <a:p>
            <a:r>
              <a:rPr lang="en-IN" sz="2000" dirty="0">
                <a:effectLst/>
                <a:latin typeface="Times New Roman" panose="02020603050405020304" pitchFamily="18" charset="0"/>
                <a:ea typeface="Times New Roman" panose="02020603050405020304" pitchFamily="18" charset="0"/>
              </a:rPr>
              <a:t>This project addresses these limitations by developing a decentralized prediction market using Ethereum blockchain. By utilizing smart contracts .</a:t>
            </a:r>
          </a:p>
          <a:p>
            <a:r>
              <a:rPr lang="en-IN" sz="2000" dirty="0">
                <a:effectLst/>
                <a:latin typeface="Times New Roman" panose="02020603050405020304" pitchFamily="18" charset="0"/>
                <a:ea typeface="Times New Roman" panose="02020603050405020304" pitchFamily="18" charset="0"/>
              </a:rPr>
              <a:t>we provide an immutable, </a:t>
            </a:r>
            <a:r>
              <a:rPr lang="en-IN" sz="2000" dirty="0" err="1">
                <a:effectLst/>
                <a:latin typeface="Times New Roman" panose="02020603050405020304" pitchFamily="18" charset="0"/>
                <a:ea typeface="Times New Roman" panose="02020603050405020304" pitchFamily="18" charset="0"/>
              </a:rPr>
              <a:t>trustless</a:t>
            </a:r>
            <a:r>
              <a:rPr lang="en-IN" sz="2000" dirty="0">
                <a:effectLst/>
                <a:latin typeface="Times New Roman" panose="02020603050405020304" pitchFamily="18" charset="0"/>
                <a:ea typeface="Times New Roman" panose="02020603050405020304" pitchFamily="18" charset="0"/>
              </a:rPr>
              <a:t> platform where users can create and resolve prediction events in a secure, automated manner. </a:t>
            </a:r>
          </a:p>
          <a:p>
            <a:r>
              <a:rPr lang="en-IN" sz="2000" dirty="0">
                <a:effectLst/>
                <a:latin typeface="Times New Roman" panose="02020603050405020304" pitchFamily="18" charset="0"/>
                <a:ea typeface="Times New Roman" panose="02020603050405020304" pitchFamily="18" charset="0"/>
              </a:rPr>
              <a:t>The system integrates a user-friendly frontend to simplify interaction while ensuring efficiency and scalability.</a:t>
            </a:r>
          </a:p>
        </p:txBody>
      </p:sp>
      <p:sp>
        <p:nvSpPr>
          <p:cNvPr id="5" name="Slide Number Placeholder 4">
            <a:extLst>
              <a:ext uri="{FF2B5EF4-FFF2-40B4-BE49-F238E27FC236}">
                <a16:creationId xmlns:a16="http://schemas.microsoft.com/office/drawing/2014/main" id="{8B496D41-8810-D1C3-B164-7F5840F91998}"/>
              </a:ext>
            </a:extLst>
          </p:cNvPr>
          <p:cNvSpPr>
            <a:spLocks noGrp="1"/>
          </p:cNvSpPr>
          <p:nvPr>
            <p:ph type="sldNum" sz="quarter" idx="12"/>
          </p:nvPr>
        </p:nvSpPr>
        <p:spPr>
          <a:xfrm>
            <a:off x="8610600" y="6163493"/>
            <a:ext cx="2743200" cy="365125"/>
          </a:xfrm>
        </p:spPr>
        <p:txBody>
          <a:bodyPr/>
          <a:lstStyle/>
          <a:p>
            <a:fld id="{79CD4CE9-F1A3-4728-B74D-DBF6FEAF9982}" type="slidenum">
              <a:rPr lang="en-IN" sz="1600" smtClean="0">
                <a:solidFill>
                  <a:schemeClr val="tx1"/>
                </a:solidFill>
              </a:rPr>
              <a:t>4</a:t>
            </a:fld>
            <a:endParaRPr lang="en-IN" sz="1600" dirty="0">
              <a:solidFill>
                <a:schemeClr val="tx1"/>
              </a:solidFill>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69600" y="1"/>
            <a:ext cx="1422400" cy="827314"/>
          </a:xfrm>
          <a:prstGeom prst="rect">
            <a:avLst/>
          </a:prstGeom>
        </p:spPr>
      </p:pic>
      <p:sp>
        <p:nvSpPr>
          <p:cNvPr id="12" name="Rectangle 11"/>
          <p:cNvSpPr/>
          <p:nvPr/>
        </p:nvSpPr>
        <p:spPr>
          <a:xfrm>
            <a:off x="4790052" y="0"/>
            <a:ext cx="2650084"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INTRODUCTION</a:t>
            </a:r>
            <a:endParaRPr lang="en-IN" sz="2400" dirty="0"/>
          </a:p>
        </p:txBody>
      </p:sp>
      <p:cxnSp>
        <p:nvCxnSpPr>
          <p:cNvPr id="13" name="Straight Connector 12"/>
          <p:cNvCxnSpPr/>
          <p:nvPr/>
        </p:nvCxnSpPr>
        <p:spPr>
          <a:xfrm>
            <a:off x="609600" y="667657"/>
            <a:ext cx="10334171" cy="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16" name="Date Placeholder 15"/>
          <p:cNvSpPr>
            <a:spLocks noGrp="1"/>
          </p:cNvSpPr>
          <p:nvPr>
            <p:ph type="dt" sz="half" idx="10"/>
          </p:nvPr>
        </p:nvSpPr>
        <p:spPr/>
        <p:txBody>
          <a:bodyPr/>
          <a:lstStyle/>
          <a:p>
            <a:fld id="{A29A107F-D971-4650-B022-4C1626F90C4A}" type="datetime1">
              <a:rPr lang="en-IN" smtClean="0"/>
              <a:t>01-03-2025</a:t>
            </a:fld>
            <a:endParaRPr lang="en-IN"/>
          </a:p>
        </p:txBody>
      </p:sp>
    </p:spTree>
    <p:extLst>
      <p:ext uri="{BB962C8B-B14F-4D97-AF65-F5344CB8AC3E}">
        <p14:creationId xmlns:p14="http://schemas.microsoft.com/office/powerpoint/2010/main" val="3035500094"/>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82A0-63B9-4DA1-27C2-B4105835B077}"/>
              </a:ext>
            </a:extLst>
          </p:cNvPr>
          <p:cNvSpPr>
            <a:spLocks noGrp="1"/>
          </p:cNvSpPr>
          <p:nvPr>
            <p:ph type="title"/>
          </p:nvPr>
        </p:nvSpPr>
        <p:spPr>
          <a:xfrm>
            <a:off x="4629775" y="43543"/>
            <a:ext cx="3614340" cy="360167"/>
          </a:xfrm>
        </p:spPr>
        <p:txBody>
          <a:bodyPr>
            <a:noAutofit/>
          </a:bodyPr>
          <a:lstStyle/>
          <a:p>
            <a:r>
              <a:rPr lang="en-US" sz="2400" b="1" dirty="0">
                <a:latin typeface="Times New Roman" panose="02020603050405020304" pitchFamily="18" charset="0"/>
                <a:cs typeface="Times New Roman" panose="02020603050405020304" pitchFamily="18" charset="0"/>
              </a:rPr>
              <a:t>EXISTING SYSTEM</a:t>
            </a:r>
            <a:endParaRPr lang="en-IN" sz="2400" b="1"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71201F9C-7289-C848-3292-6D2F03F89C88}"/>
              </a:ext>
            </a:extLst>
          </p:cNvPr>
          <p:cNvSpPr>
            <a:spLocks noGrp="1"/>
          </p:cNvSpPr>
          <p:nvPr>
            <p:ph idx="1"/>
          </p:nvPr>
        </p:nvSpPr>
        <p:spPr>
          <a:xfrm>
            <a:off x="1102802" y="757823"/>
            <a:ext cx="9585722" cy="4928105"/>
          </a:xfrm>
        </p:spPr>
        <p:txBody>
          <a:bodyPr>
            <a:noAutofit/>
          </a:bodyPr>
          <a:lstStyle/>
          <a:p>
            <a:pPr marL="0" indent="0" algn="just">
              <a:lnSpc>
                <a:spcPct val="107000"/>
              </a:lnSpc>
              <a:spcAft>
                <a:spcPts val="800"/>
              </a:spcAft>
              <a:buNone/>
            </a:pPr>
            <a:r>
              <a:rPr lang="en-IN" sz="2000" dirty="0">
                <a:effectLst/>
                <a:latin typeface="Times New Roman" panose="02020603050405020304" pitchFamily="18" charset="0"/>
                <a:ea typeface="Calibri" panose="020F0502020204030204" pitchFamily="34" charset="0"/>
              </a:rPr>
              <a:t>Traditional prediction markets rely on centralized servers and entities, resulting in reduced trust and transparency. Users are dependent on third-party authorities to create and resolve events, exposing the system to manipulation and inefficiency. These systems also lack the ability to verify outcomes without manual intervention</a:t>
            </a:r>
            <a:endParaRPr lang="en-IN" sz="1800" dirty="0">
              <a:effectLst/>
              <a:latin typeface="Calibri" panose="020F050202020403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4780639D-9FBD-4830-324C-E1ADA38CC762}"/>
              </a:ext>
            </a:extLst>
          </p:cNvPr>
          <p:cNvSpPr>
            <a:spLocks noGrp="1"/>
          </p:cNvSpPr>
          <p:nvPr>
            <p:ph type="sldNum" sz="quarter" idx="12"/>
          </p:nvPr>
        </p:nvSpPr>
        <p:spPr/>
        <p:txBody>
          <a:bodyPr/>
          <a:lstStyle/>
          <a:p>
            <a:r>
              <a:rPr lang="en-US" sz="1600" dirty="0">
                <a:solidFill>
                  <a:schemeClr val="tx1"/>
                </a:solidFill>
              </a:rPr>
              <a:t>6</a:t>
            </a:r>
            <a:endParaRPr lang="en-IN" sz="1600" dirty="0">
              <a:solidFill>
                <a:schemeClr val="tx1"/>
              </a:solidFill>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69600" y="0"/>
            <a:ext cx="1306286" cy="812799"/>
          </a:xfrm>
          <a:prstGeom prst="rect">
            <a:avLst/>
          </a:prstGeom>
        </p:spPr>
      </p:pic>
      <p:cxnSp>
        <p:nvCxnSpPr>
          <p:cNvPr id="9" name="Straight Connector 8"/>
          <p:cNvCxnSpPr/>
          <p:nvPr/>
        </p:nvCxnSpPr>
        <p:spPr>
          <a:xfrm>
            <a:off x="609600" y="667657"/>
            <a:ext cx="10334171" cy="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3" name="Date Placeholder 2"/>
          <p:cNvSpPr>
            <a:spLocks noGrp="1"/>
          </p:cNvSpPr>
          <p:nvPr>
            <p:ph type="dt" sz="half" idx="10"/>
          </p:nvPr>
        </p:nvSpPr>
        <p:spPr/>
        <p:txBody>
          <a:bodyPr/>
          <a:lstStyle/>
          <a:p>
            <a:fld id="{1A86D5DE-AE5E-4D88-9BC5-F40A97D3299E}" type="datetime1">
              <a:rPr lang="en-IN" smtClean="0"/>
              <a:t>01-03-2025</a:t>
            </a:fld>
            <a:endParaRPr lang="en-IN"/>
          </a:p>
        </p:txBody>
      </p:sp>
    </p:spTree>
    <p:extLst>
      <p:ext uri="{BB962C8B-B14F-4D97-AF65-F5344CB8AC3E}">
        <p14:creationId xmlns:p14="http://schemas.microsoft.com/office/powerpoint/2010/main" val="669453559"/>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1201F9C-7289-C848-3292-6D2F03F89C88}"/>
              </a:ext>
            </a:extLst>
          </p:cNvPr>
          <p:cNvSpPr>
            <a:spLocks noGrp="1"/>
          </p:cNvSpPr>
          <p:nvPr>
            <p:ph idx="1"/>
          </p:nvPr>
        </p:nvSpPr>
        <p:spPr>
          <a:xfrm>
            <a:off x="725714" y="904073"/>
            <a:ext cx="10247086" cy="6034512"/>
          </a:xfrm>
        </p:spPr>
        <p:txBody>
          <a:bodyPr>
            <a:noAutofit/>
          </a:bodyPr>
          <a:lstStyle/>
          <a:p>
            <a:pPr marL="0" indent="0">
              <a:lnSpc>
                <a:spcPct val="107000"/>
              </a:lnSpc>
              <a:spcAft>
                <a:spcPts val="800"/>
              </a:spcAft>
              <a:buNone/>
            </a:pPr>
            <a:r>
              <a:rPr lang="en-IN" sz="2000" dirty="0">
                <a:effectLst/>
                <a:latin typeface="Times New Roman" panose="02020603050405020304" pitchFamily="18" charset="0"/>
                <a:ea typeface="Times New Roman" panose="02020603050405020304" pitchFamily="18" charset="0"/>
              </a:rPr>
              <a:t>The Blockchain-Based Prediction Market introduces a decentralized and autonomous platform for creating and resolving prediction events. Key features include:</a:t>
            </a:r>
            <a:endParaRPr lang="en-IN" sz="1800" dirty="0">
              <a:effectLst/>
              <a:latin typeface="Calibri" panose="020F0502020204030204" pitchFamily="34" charset="0"/>
              <a:ea typeface="Calibri" panose="020F0502020204030204" pitchFamily="34" charset="0"/>
            </a:endParaRPr>
          </a:p>
          <a:p>
            <a:pPr lvl="0">
              <a:lnSpc>
                <a:spcPct val="107000"/>
              </a:lnSpc>
              <a:spcAft>
                <a:spcPts val="800"/>
              </a:spcAft>
              <a:buSzPts val="1000"/>
              <a:tabLst>
                <a:tab pos="457200" algn="l"/>
              </a:tabLst>
            </a:pPr>
            <a:r>
              <a:rPr lang="en-IN" sz="2000" b="1" dirty="0">
                <a:effectLst/>
                <a:latin typeface="Times New Roman" panose="02020603050405020304" pitchFamily="18" charset="0"/>
                <a:ea typeface="Times New Roman" panose="02020603050405020304" pitchFamily="18" charset="0"/>
              </a:rPr>
              <a:t>Smart Contracts:</a:t>
            </a:r>
            <a:r>
              <a:rPr lang="en-IN" sz="2000" dirty="0">
                <a:effectLst/>
                <a:latin typeface="Times New Roman" panose="02020603050405020304" pitchFamily="18" charset="0"/>
                <a:ea typeface="Times New Roman" panose="02020603050405020304" pitchFamily="18" charset="0"/>
              </a:rPr>
              <a:t> Written in Solidity, enabling automated event handling.</a:t>
            </a:r>
          </a:p>
          <a:p>
            <a:pPr lvl="0">
              <a:lnSpc>
                <a:spcPct val="107000"/>
              </a:lnSpc>
              <a:spcAft>
                <a:spcPts val="800"/>
              </a:spcAft>
              <a:buSzPts val="1000"/>
              <a:tabLst>
                <a:tab pos="457200" algn="l"/>
              </a:tabLst>
            </a:pPr>
            <a:r>
              <a:rPr lang="en-IN" sz="2000" b="1" dirty="0">
                <a:effectLst/>
                <a:latin typeface="Times New Roman" panose="02020603050405020304" pitchFamily="18" charset="0"/>
                <a:ea typeface="Times New Roman" panose="02020603050405020304" pitchFamily="18" charset="0"/>
              </a:rPr>
              <a:t>Frontend Integration:</a:t>
            </a:r>
            <a:r>
              <a:rPr lang="en-IN" sz="2000" dirty="0">
                <a:effectLst/>
                <a:latin typeface="Times New Roman" panose="02020603050405020304" pitchFamily="18" charset="0"/>
                <a:ea typeface="Times New Roman" panose="02020603050405020304" pitchFamily="18" charset="0"/>
              </a:rPr>
              <a:t> Built using React.js for seamless user interaction.</a:t>
            </a:r>
          </a:p>
          <a:p>
            <a:pPr lvl="0">
              <a:lnSpc>
                <a:spcPct val="107000"/>
              </a:lnSpc>
              <a:spcAft>
                <a:spcPts val="800"/>
              </a:spcAft>
              <a:buSzPts val="1000"/>
              <a:tabLst>
                <a:tab pos="457200" algn="l"/>
              </a:tabLst>
            </a:pPr>
            <a:r>
              <a:rPr lang="en-IN" sz="2000" b="1" dirty="0">
                <a:effectLst/>
                <a:latin typeface="Times New Roman" panose="02020603050405020304" pitchFamily="18" charset="0"/>
                <a:ea typeface="Times New Roman" panose="02020603050405020304" pitchFamily="18" charset="0"/>
              </a:rPr>
              <a:t>Decentralized Architecture:</a:t>
            </a:r>
            <a:r>
              <a:rPr lang="en-IN" sz="2000" dirty="0">
                <a:effectLst/>
                <a:latin typeface="Times New Roman" panose="02020603050405020304" pitchFamily="18" charset="0"/>
                <a:ea typeface="Times New Roman" panose="02020603050405020304" pitchFamily="18" charset="0"/>
              </a:rPr>
              <a:t> Reducing the need for intermediaries and enhancing trust.</a:t>
            </a:r>
          </a:p>
          <a:p>
            <a:pPr lvl="0">
              <a:lnSpc>
                <a:spcPct val="107000"/>
              </a:lnSpc>
              <a:spcAft>
                <a:spcPts val="800"/>
              </a:spcAft>
              <a:buSzPts val="1000"/>
              <a:tabLst>
                <a:tab pos="457200" algn="l"/>
              </a:tabLst>
            </a:pPr>
            <a:r>
              <a:rPr lang="en-IN" sz="2000" b="1" dirty="0">
                <a:effectLst/>
                <a:latin typeface="Times New Roman" panose="02020603050405020304" pitchFamily="18" charset="0"/>
                <a:ea typeface="Times New Roman" panose="02020603050405020304" pitchFamily="18" charset="0"/>
              </a:rPr>
              <a:t>Game Theory Application:</a:t>
            </a:r>
            <a:r>
              <a:rPr lang="en-IN" sz="2000" dirty="0">
                <a:effectLst/>
                <a:latin typeface="Times New Roman" panose="02020603050405020304" pitchFamily="18" charset="0"/>
                <a:ea typeface="Times New Roman" panose="02020603050405020304" pitchFamily="18" charset="0"/>
              </a:rPr>
              <a:t> Securing participant contributions to ensure accuracy and data-driven predictions.</a:t>
            </a:r>
            <a:endParaRPr lang="en-IN" sz="1800" dirty="0">
              <a:effectLst/>
              <a:latin typeface="Calibri" panose="020F0502020204030204" pitchFamily="34" charset="0"/>
              <a:ea typeface="Calibri" panose="020F0502020204030204" pitchFamily="34" charset="0"/>
            </a:endParaRPr>
          </a:p>
          <a:p>
            <a:pPr marL="0" indent="0">
              <a:lnSpc>
                <a:spcPct val="107000"/>
              </a:lnSpc>
              <a:spcAft>
                <a:spcPts val="800"/>
              </a:spcAft>
              <a:buNone/>
            </a:pPr>
            <a:r>
              <a:rPr lang="en-IN" sz="2000" dirty="0">
                <a:effectLst/>
                <a:latin typeface="Times New Roman" panose="02020603050405020304" pitchFamily="18" charset="0"/>
                <a:ea typeface="Times New Roman" panose="02020603050405020304" pitchFamily="18" charset="0"/>
              </a:rPr>
              <a:t>The system ensures transparency and fairness, with immutable event records and tamper-proof operations.</a:t>
            </a:r>
            <a:endParaRPr lang="en-IN" sz="1800" dirty="0">
              <a:effectLst/>
              <a:latin typeface="Calibri" panose="020F050202020403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4780639D-9FBD-4830-324C-E1ADA38CC762}"/>
              </a:ext>
            </a:extLst>
          </p:cNvPr>
          <p:cNvSpPr>
            <a:spLocks noGrp="1"/>
          </p:cNvSpPr>
          <p:nvPr>
            <p:ph type="sldNum" sz="quarter" idx="12"/>
          </p:nvPr>
        </p:nvSpPr>
        <p:spPr/>
        <p:txBody>
          <a:bodyPr/>
          <a:lstStyle/>
          <a:p>
            <a:r>
              <a:rPr lang="en-US" sz="1600" dirty="0">
                <a:solidFill>
                  <a:schemeClr val="tx1"/>
                </a:solidFill>
              </a:rPr>
              <a:t>6</a:t>
            </a:r>
            <a:endParaRPr lang="en-IN" sz="1600" dirty="0">
              <a:solidFill>
                <a:schemeClr val="tx1"/>
              </a:solidFill>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69600" y="0"/>
            <a:ext cx="1306286" cy="914400"/>
          </a:xfrm>
          <a:prstGeom prst="rect">
            <a:avLst/>
          </a:prstGeom>
        </p:spPr>
      </p:pic>
      <p:sp>
        <p:nvSpPr>
          <p:cNvPr id="3" name="Rectangle 2"/>
          <p:cNvSpPr/>
          <p:nvPr/>
        </p:nvSpPr>
        <p:spPr>
          <a:xfrm>
            <a:off x="4420074" y="145143"/>
            <a:ext cx="4482317"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PROPOSED METHODOLOGY</a:t>
            </a:r>
            <a:endParaRPr lang="en-IN" sz="2400" dirty="0"/>
          </a:p>
        </p:txBody>
      </p:sp>
      <p:cxnSp>
        <p:nvCxnSpPr>
          <p:cNvPr id="9" name="Straight Connector 8"/>
          <p:cNvCxnSpPr/>
          <p:nvPr/>
        </p:nvCxnSpPr>
        <p:spPr>
          <a:xfrm flipV="1">
            <a:off x="609600" y="636691"/>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5" name="Date Placeholder 4"/>
          <p:cNvSpPr>
            <a:spLocks noGrp="1"/>
          </p:cNvSpPr>
          <p:nvPr>
            <p:ph type="dt" sz="half" idx="10"/>
          </p:nvPr>
        </p:nvSpPr>
        <p:spPr/>
        <p:txBody>
          <a:bodyPr/>
          <a:lstStyle/>
          <a:p>
            <a:fld id="{C5C35B86-F3CE-4CCA-A4B0-CA0497C4ED60}" type="datetime1">
              <a:rPr lang="en-IN" smtClean="0"/>
              <a:t>01-03-2025</a:t>
            </a:fld>
            <a:endParaRPr lang="en-IN"/>
          </a:p>
        </p:txBody>
      </p:sp>
    </p:spTree>
    <p:extLst>
      <p:ext uri="{BB962C8B-B14F-4D97-AF65-F5344CB8AC3E}">
        <p14:creationId xmlns:p14="http://schemas.microsoft.com/office/powerpoint/2010/main" val="3121497373"/>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3EA194-D391-0E6C-A58C-C0C4CD8A526E}"/>
              </a:ext>
            </a:extLst>
          </p:cNvPr>
          <p:cNvSpPr>
            <a:spLocks noGrp="1"/>
          </p:cNvSpPr>
          <p:nvPr>
            <p:ph idx="1"/>
          </p:nvPr>
        </p:nvSpPr>
        <p:spPr>
          <a:xfrm>
            <a:off x="780143" y="776967"/>
            <a:ext cx="11063514" cy="5885089"/>
          </a:xfrm>
        </p:spPr>
        <p:txBody>
          <a:bodyPr>
            <a:normAutofit/>
          </a:bodyPr>
          <a:lstStyle/>
          <a:p>
            <a:pPr marL="0" indent="0" algn="just">
              <a:buNone/>
            </a:pPr>
            <a:r>
              <a:rPr lang="en-US" sz="2000" b="1" dirty="0">
                <a:latin typeface="Times New Roman" panose="02020603050405020304" pitchFamily="18" charset="0"/>
                <a:cs typeface="Times New Roman" panose="02020603050405020304" pitchFamily="18" charset="0"/>
              </a:rPr>
              <a:t>PROBLEM STATEMENT</a:t>
            </a:r>
            <a:endParaRPr lang="en-IN" sz="2000" dirty="0"/>
          </a:p>
          <a:p>
            <a:pPr marL="0" indent="0" algn="just">
              <a:buNone/>
            </a:pPr>
            <a:r>
              <a:rPr lang="en-US" sz="2000" dirty="0">
                <a:latin typeface="Times New Roman" panose="02020603050405020304" pitchFamily="18" charset="0"/>
                <a:cs typeface="Times New Roman" panose="02020603050405020304" pitchFamily="18" charset="0"/>
              </a:rPr>
              <a:t>“Develop an efficient blockchain-based prediction market utilizing </a:t>
            </a:r>
            <a:r>
              <a:rPr lang="en-US" sz="2000" b="1" dirty="0">
                <a:latin typeface="Times New Roman" panose="02020603050405020304" pitchFamily="18" charset="0"/>
                <a:cs typeface="Times New Roman" panose="02020603050405020304" pitchFamily="18" charset="0"/>
              </a:rPr>
              <a:t>Ethereum smart contracts</a:t>
            </a:r>
            <a:r>
              <a:rPr lang="en-US" sz="2000" dirty="0">
                <a:latin typeface="Times New Roman" panose="02020603050405020304" pitchFamily="18" charset="0"/>
                <a:cs typeface="Times New Roman" panose="02020603050405020304" pitchFamily="18" charset="0"/>
              </a:rPr>
              <a:t> to enhance </a:t>
            </a:r>
            <a:r>
              <a:rPr lang="en-US" sz="2000" b="1" dirty="0">
                <a:latin typeface="Times New Roman" panose="02020603050405020304" pitchFamily="18" charset="0"/>
                <a:cs typeface="Times New Roman" panose="02020603050405020304" pitchFamily="18" charset="0"/>
              </a:rPr>
              <a:t>transparency, security, and decentralization</a:t>
            </a:r>
            <a:r>
              <a:rPr lang="en-US" sz="2000" dirty="0">
                <a:latin typeface="Times New Roman" panose="02020603050405020304" pitchFamily="18" charset="0"/>
                <a:cs typeface="Times New Roman" panose="02020603050405020304" pitchFamily="18" charset="0"/>
              </a:rPr>
              <a:t> in event-based forecasting.</a:t>
            </a:r>
          </a:p>
          <a:p>
            <a:pPr marL="0" indent="0" algn="just">
              <a:buNone/>
            </a:pPr>
            <a:endParaRPr lang="en-US" sz="2000" b="1" dirty="0">
              <a:latin typeface="Times New Roman" panose="02020603050405020304" pitchFamily="18" charset="0"/>
              <a:cs typeface="Times New Roman" panose="02020603050405020304" pitchFamily="18" charset="0"/>
            </a:endParaRPr>
          </a:p>
          <a:p>
            <a:pPr marL="0" indent="0" algn="just">
              <a:buNone/>
            </a:pPr>
            <a:endParaRPr lang="en-US" b="1" i="1" dirty="0">
              <a:latin typeface="Times New Roman" panose="02020603050405020304" pitchFamily="18" charset="0"/>
              <a:cs typeface="Times New Roman" panose="02020603050405020304" pitchFamily="18" charset="0"/>
            </a:endParaRPr>
          </a:p>
          <a:p>
            <a:pPr marL="0" indent="0" algn="just">
              <a:buNone/>
            </a:pPr>
            <a:endParaRPr lang="en-IN" sz="2000" b="1" i="1"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A94AD23D-3B44-EC38-704A-2B6E3C1EC9A3}"/>
              </a:ext>
            </a:extLst>
          </p:cNvPr>
          <p:cNvSpPr>
            <a:spLocks noGrp="1"/>
          </p:cNvSpPr>
          <p:nvPr>
            <p:ph type="sldNum" sz="quarter" idx="12"/>
          </p:nvPr>
        </p:nvSpPr>
        <p:spPr>
          <a:xfrm>
            <a:off x="8610600" y="6310312"/>
            <a:ext cx="2743200" cy="365125"/>
          </a:xfrm>
        </p:spPr>
        <p:txBody>
          <a:bodyPr/>
          <a:lstStyle/>
          <a:p>
            <a:r>
              <a:rPr lang="en-US" sz="1600" dirty="0">
                <a:solidFill>
                  <a:schemeClr val="tx1"/>
                </a:solidFill>
              </a:rPr>
              <a:t>5</a:t>
            </a:r>
            <a:endParaRPr lang="en-IN" sz="1600" dirty="0">
              <a:solidFill>
                <a:schemeClr val="tx1"/>
              </a:solidFill>
            </a:endParaRPr>
          </a:p>
        </p:txBody>
      </p:sp>
      <p:sp>
        <p:nvSpPr>
          <p:cNvPr id="4" name="Rectangle 3"/>
          <p:cNvSpPr/>
          <p:nvPr/>
        </p:nvSpPr>
        <p:spPr>
          <a:xfrm>
            <a:off x="4233939" y="0"/>
            <a:ext cx="3704091"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PROBLEM STATEMENT</a:t>
            </a:r>
            <a:endParaRPr lang="en-IN" sz="2400"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5085" y="0"/>
            <a:ext cx="1436915" cy="1059543"/>
          </a:xfrm>
          <a:prstGeom prst="rect">
            <a:avLst/>
          </a:prstGeom>
        </p:spPr>
      </p:pic>
      <p:cxnSp>
        <p:nvCxnSpPr>
          <p:cNvPr id="9" name="Straight Connector 8"/>
          <p:cNvCxnSpPr/>
          <p:nvPr/>
        </p:nvCxnSpPr>
        <p:spPr>
          <a:xfrm flipV="1">
            <a:off x="551543" y="667657"/>
            <a:ext cx="10392228" cy="2"/>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17" name="Date Placeholder 16"/>
          <p:cNvSpPr>
            <a:spLocks noGrp="1"/>
          </p:cNvSpPr>
          <p:nvPr>
            <p:ph type="dt" sz="half" idx="10"/>
          </p:nvPr>
        </p:nvSpPr>
        <p:spPr/>
        <p:txBody>
          <a:bodyPr/>
          <a:lstStyle/>
          <a:p>
            <a:fld id="{485D0C60-F3E7-4994-A4A8-88B24D983CF7}" type="datetime1">
              <a:rPr lang="en-IN" smtClean="0"/>
              <a:t>01-03-2025</a:t>
            </a:fld>
            <a:endParaRPr lang="en-IN"/>
          </a:p>
        </p:txBody>
      </p:sp>
    </p:spTree>
    <p:extLst>
      <p:ext uri="{BB962C8B-B14F-4D97-AF65-F5344CB8AC3E}">
        <p14:creationId xmlns:p14="http://schemas.microsoft.com/office/powerpoint/2010/main" val="3432946822"/>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25046"/>
          </a:xfrm>
        </p:spPr>
        <p:txBody>
          <a:bodyPr>
            <a:normAutofit fontScale="90000"/>
          </a:bodyPr>
          <a:lstStyle/>
          <a:p>
            <a:pPr algn="ctr"/>
            <a:r>
              <a:rPr lang="en-IN" sz="2400" b="1" dirty="0">
                <a:latin typeface="Times New Roman" panose="02020603050405020304" pitchFamily="18" charset="0"/>
                <a:cs typeface="Times New Roman" panose="02020603050405020304" pitchFamily="18" charset="0"/>
              </a:rPr>
              <a:t>OBJECTIVE</a:t>
            </a:r>
            <a:br>
              <a:rPr lang="en-IN" dirty="0"/>
            </a:br>
            <a:endParaRPr lang="en-IN" dirty="0"/>
          </a:p>
        </p:txBody>
      </p:sp>
      <p:sp>
        <p:nvSpPr>
          <p:cNvPr id="3" name="Content Placeholder 2"/>
          <p:cNvSpPr>
            <a:spLocks noGrp="1"/>
          </p:cNvSpPr>
          <p:nvPr>
            <p:ph idx="1"/>
          </p:nvPr>
        </p:nvSpPr>
        <p:spPr>
          <a:xfrm>
            <a:off x="827314" y="1253331"/>
            <a:ext cx="10515600" cy="4351338"/>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The objective of this project is to develop a </a:t>
            </a:r>
            <a:r>
              <a:rPr lang="en-US" sz="2000" b="1" dirty="0">
                <a:latin typeface="Times New Roman" panose="02020603050405020304" pitchFamily="18" charset="0"/>
                <a:cs typeface="Times New Roman" panose="02020603050405020304" pitchFamily="18" charset="0"/>
              </a:rPr>
              <a:t>decentralized prediction market</a:t>
            </a:r>
            <a:r>
              <a:rPr lang="en-US" sz="2000" dirty="0">
                <a:latin typeface="Times New Roman" panose="02020603050405020304" pitchFamily="18" charset="0"/>
                <a:cs typeface="Times New Roman" panose="02020603050405020304" pitchFamily="18" charset="0"/>
              </a:rPr>
              <a:t> using Ethereum smart contracts to enhance </a:t>
            </a:r>
            <a:r>
              <a:rPr lang="en-US" sz="2000" b="1" dirty="0">
                <a:latin typeface="Times New Roman" panose="02020603050405020304" pitchFamily="18" charset="0"/>
                <a:cs typeface="Times New Roman" panose="02020603050405020304" pitchFamily="18" charset="0"/>
              </a:rPr>
              <a:t>transparency, trust, and automation</a:t>
            </a:r>
            <a:r>
              <a:rPr lang="en-US" sz="2000" dirty="0">
                <a:latin typeface="Times New Roman" panose="02020603050405020304" pitchFamily="18" charset="0"/>
                <a:cs typeface="Times New Roman" panose="02020603050405020304" pitchFamily="18" charset="0"/>
              </a:rPr>
              <a:t> in event-based speculation. By eliminating intermediaries, the system allows users to create and participate in prediction events securely and autonomously. Leveraging </a:t>
            </a:r>
            <a:r>
              <a:rPr lang="en-US" sz="2000" b="1" dirty="0">
                <a:latin typeface="Times New Roman" panose="02020603050405020304" pitchFamily="18" charset="0"/>
                <a:cs typeface="Times New Roman" panose="02020603050405020304" pitchFamily="18" charset="0"/>
              </a:rPr>
              <a:t>blockchain technology</a:t>
            </a:r>
            <a:r>
              <a:rPr lang="en-US" sz="2000" dirty="0">
                <a:latin typeface="Times New Roman" panose="02020603050405020304" pitchFamily="18" charset="0"/>
                <a:cs typeface="Times New Roman" panose="02020603050405020304" pitchFamily="18" charset="0"/>
              </a:rPr>
              <a:t>, it ensures </a:t>
            </a:r>
            <a:r>
              <a:rPr lang="en-US" sz="2000" b="1" dirty="0">
                <a:latin typeface="Times New Roman" panose="02020603050405020304" pitchFamily="18" charset="0"/>
                <a:cs typeface="Times New Roman" panose="02020603050405020304" pitchFamily="18" charset="0"/>
              </a:rPr>
              <a:t>data integrity and immutability</a:t>
            </a:r>
            <a:r>
              <a:rPr lang="en-US" sz="2000" dirty="0">
                <a:latin typeface="Times New Roman" panose="02020603050405020304" pitchFamily="18" charset="0"/>
                <a:cs typeface="Times New Roman" panose="02020603050405020304" pitchFamily="18" charset="0"/>
              </a:rPr>
              <a:t>, preventing manipulation. The integration of </a:t>
            </a:r>
            <a:r>
              <a:rPr lang="en-US" sz="2000" b="1" dirty="0">
                <a:latin typeface="Times New Roman" panose="02020603050405020304" pitchFamily="18" charset="0"/>
                <a:cs typeface="Times New Roman" panose="02020603050405020304" pitchFamily="18" charset="0"/>
              </a:rPr>
              <a:t>game theory principles</a:t>
            </a:r>
            <a:r>
              <a:rPr lang="en-US" sz="2000" dirty="0">
                <a:latin typeface="Times New Roman" panose="02020603050405020304" pitchFamily="18" charset="0"/>
                <a:cs typeface="Times New Roman" panose="02020603050405020304" pitchFamily="18" charset="0"/>
              </a:rPr>
              <a:t> improves </a:t>
            </a:r>
            <a:r>
              <a:rPr lang="en-US" sz="2000" b="1" dirty="0">
                <a:latin typeface="Times New Roman" panose="02020603050405020304" pitchFamily="18" charset="0"/>
                <a:cs typeface="Times New Roman" panose="02020603050405020304" pitchFamily="18" charset="0"/>
              </a:rPr>
              <a:t>prediction accuracy</a:t>
            </a:r>
            <a:r>
              <a:rPr lang="en-US" sz="2000" dirty="0">
                <a:latin typeface="Times New Roman" panose="02020603050405020304" pitchFamily="18" charset="0"/>
                <a:cs typeface="Times New Roman" panose="02020603050405020304" pitchFamily="18" charset="0"/>
              </a:rPr>
              <a:t>, while a </a:t>
            </a:r>
            <a:r>
              <a:rPr lang="en-US" sz="2000" b="1" dirty="0">
                <a:latin typeface="Times New Roman" panose="02020603050405020304" pitchFamily="18" charset="0"/>
                <a:cs typeface="Times New Roman" panose="02020603050405020304" pitchFamily="18" charset="0"/>
              </a:rPr>
              <a:t>user-friendly React.js frontend</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Ethers.js/Web3.js</a:t>
            </a:r>
            <a:r>
              <a:rPr lang="en-US" sz="2000" dirty="0">
                <a:latin typeface="Times New Roman" panose="02020603050405020304" pitchFamily="18" charset="0"/>
                <a:cs typeface="Times New Roman" panose="02020603050405020304" pitchFamily="18" charset="0"/>
              </a:rPr>
              <a:t> facilitate seamless blockchain interactions. Designed for </a:t>
            </a:r>
            <a:r>
              <a:rPr lang="en-US" sz="2000" b="1" dirty="0">
                <a:latin typeface="Times New Roman" panose="02020603050405020304" pitchFamily="18" charset="0"/>
                <a:cs typeface="Times New Roman" panose="02020603050405020304" pitchFamily="18" charset="0"/>
              </a:rPr>
              <a:t>scalability and security</a:t>
            </a:r>
            <a:r>
              <a:rPr lang="en-US" sz="2000" dirty="0">
                <a:latin typeface="Times New Roman" panose="02020603050405020304" pitchFamily="18" charset="0"/>
                <a:cs typeface="Times New Roman" panose="02020603050405020304" pitchFamily="18" charset="0"/>
              </a:rPr>
              <a:t>, the system provides </a:t>
            </a:r>
            <a:r>
              <a:rPr lang="en-US" sz="2000" b="1" dirty="0">
                <a:latin typeface="Times New Roman" panose="02020603050405020304" pitchFamily="18" charset="0"/>
                <a:cs typeface="Times New Roman" panose="02020603050405020304" pitchFamily="18" charset="0"/>
              </a:rPr>
              <a:t>a reliable, global, and efficient</a:t>
            </a:r>
            <a:r>
              <a:rPr lang="en-US" sz="2000" dirty="0">
                <a:latin typeface="Times New Roman" panose="02020603050405020304" pitchFamily="18" charset="0"/>
                <a:cs typeface="Times New Roman" panose="02020603050405020304" pitchFamily="18" charset="0"/>
              </a:rPr>
              <a:t> solution for decentralized forecasting.</a:t>
            </a:r>
            <a:endParaRPr lang="en-IN"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4013B94-742D-48D3-8FAB-AFA19A2F562D}" type="datetime1">
              <a:rPr lang="en-IN" smtClean="0"/>
              <a:t>01-03-2025</a:t>
            </a:fld>
            <a:endParaRPr lang="en-IN"/>
          </a:p>
        </p:txBody>
      </p:sp>
      <p:sp>
        <p:nvSpPr>
          <p:cNvPr id="5" name="Slide Number Placeholder 4"/>
          <p:cNvSpPr>
            <a:spLocks noGrp="1"/>
          </p:cNvSpPr>
          <p:nvPr>
            <p:ph type="sldNum" sz="quarter" idx="12"/>
          </p:nvPr>
        </p:nvSpPr>
        <p:spPr/>
        <p:txBody>
          <a:bodyPr/>
          <a:lstStyle/>
          <a:p>
            <a:fld id="{79CD4CE9-F1A3-4728-B74D-DBF6FEAF9982}" type="slidenum">
              <a:rPr lang="en-IN" smtClean="0"/>
              <a:t>8</a:t>
            </a:fld>
            <a:endParaRPr lang="en-IN"/>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5085" y="0"/>
            <a:ext cx="1436915" cy="1132114"/>
          </a:xfrm>
          <a:prstGeom prst="rect">
            <a:avLst/>
          </a:prstGeom>
        </p:spPr>
      </p:pic>
      <p:cxnSp>
        <p:nvCxnSpPr>
          <p:cNvPr id="7" name="Straight Connector 6"/>
          <p:cNvCxnSpPr/>
          <p:nvPr/>
        </p:nvCxnSpPr>
        <p:spPr>
          <a:xfrm flipV="1">
            <a:off x="827314" y="798286"/>
            <a:ext cx="10116457" cy="14516"/>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22954050"/>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48B0A-2262-45A2-8110-CBB8B4007E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26666-1B57-67E1-9A27-D0024AA6726A}"/>
              </a:ext>
            </a:extLst>
          </p:cNvPr>
          <p:cNvSpPr>
            <a:spLocks noGrp="1"/>
          </p:cNvSpPr>
          <p:nvPr>
            <p:ph type="title"/>
          </p:nvPr>
        </p:nvSpPr>
        <p:spPr>
          <a:xfrm>
            <a:off x="838200" y="365126"/>
            <a:ext cx="10515600" cy="825046"/>
          </a:xfrm>
        </p:spPr>
        <p:txBody>
          <a:bodyPr>
            <a:normAutofit fontScale="90000"/>
          </a:bodyPr>
          <a:lstStyle/>
          <a:p>
            <a:pPr algn="ctr"/>
            <a:r>
              <a:rPr lang="en-US" sz="2400" b="1" dirty="0">
                <a:latin typeface="Times New Roman" panose="02020603050405020304" pitchFamily="18" charset="0"/>
                <a:cs typeface="Times New Roman" panose="02020603050405020304" pitchFamily="18" charset="0"/>
              </a:rPr>
              <a:t>ADVANTAGES OF PROPOSED SYSTEM OVER EXISTING SYSTEM</a:t>
            </a:r>
            <a:br>
              <a:rPr lang="en-IN" dirty="0"/>
            </a:br>
            <a:endParaRPr lang="en-IN" dirty="0"/>
          </a:p>
        </p:txBody>
      </p:sp>
      <p:sp>
        <p:nvSpPr>
          <p:cNvPr id="3" name="Content Placeholder 2">
            <a:extLst>
              <a:ext uri="{FF2B5EF4-FFF2-40B4-BE49-F238E27FC236}">
                <a16:creationId xmlns:a16="http://schemas.microsoft.com/office/drawing/2014/main" id="{A8F7CCC5-1678-7B0B-E9A2-E9432F1CDC95}"/>
              </a:ext>
            </a:extLst>
          </p:cNvPr>
          <p:cNvSpPr>
            <a:spLocks noGrp="1"/>
          </p:cNvSpPr>
          <p:nvPr>
            <p:ph idx="1"/>
          </p:nvPr>
        </p:nvSpPr>
        <p:spPr>
          <a:xfrm>
            <a:off x="957942" y="1132114"/>
            <a:ext cx="10515600" cy="4351338"/>
          </a:xfrm>
        </p:spPr>
        <p:txBody>
          <a:bodyPr>
            <a:noAutofit/>
          </a:bodyPr>
          <a:lstStyle/>
          <a:p>
            <a:pPr marR="0" lvl="0" algn="just"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Decentralization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Eliminates reliance on centralized entities, reducing manipulation risks.</a:t>
            </a:r>
          </a:p>
          <a:p>
            <a:pPr marR="0" lvl="0" algn="just"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Transparency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Smart contracts ensure all transactions and event resolutions are immutable and publicly verifiable.</a:t>
            </a:r>
          </a:p>
          <a:p>
            <a:pPr marR="0" lvl="0" algn="just"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Event creation, bet placement, and outcome resolution are handled autonomously by smart contracts, reducing manual intervention.</a:t>
            </a:r>
          </a:p>
          <a:p>
            <a:pPr marR="0" lvl="0" algn="just"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Trustless Environment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Users don’t need to trust a central authority; instead, they rely on blockchain’s consensus mechanism.</a:t>
            </a:r>
          </a:p>
          <a:p>
            <a:pPr marR="0" lvl="0" algn="just"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Blockchain's cryptographic features enhance data integrity and prevent unauthorized changes. </a:t>
            </a:r>
          </a:p>
          <a:p>
            <a:pPr marR="0" lvl="0" algn="just" defTabSz="914400" rtl="0" eaLnBrk="0" fontAlgn="base" latinLnBrk="0" hangingPunct="0">
              <a:lnSpc>
                <a:spcPct val="100000"/>
              </a:lnSpc>
              <a:spcBef>
                <a:spcPct val="0"/>
              </a:spcBef>
              <a:spcAft>
                <a:spcPct val="0"/>
              </a:spcAft>
              <a:buClrTx/>
              <a:buSzTx/>
              <a:tabLst/>
            </a:pP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Efficiency</a:t>
            </a: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Faster and more reliable event resolution compared to traditional markets that require manual verification.</a:t>
            </a:r>
          </a:p>
          <a:p>
            <a:pPr marR="0" lvl="0" algn="just" defTabSz="914400" rtl="0" eaLnBrk="0" fontAlgn="base" latinLnBrk="0" hangingPunct="0">
              <a:lnSpc>
                <a:spcPct val="100000"/>
              </a:lnSpc>
              <a:spcBef>
                <a:spcPct val="0"/>
              </a:spcBef>
              <a:spcAft>
                <a:spcPct val="0"/>
              </a:spcAft>
              <a:buClrTx/>
              <a:buSzTx/>
              <a:tabLst/>
            </a:pP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Scalability</a:t>
            </a: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Can accommodate a large number of participants without performance degradation.</a:t>
            </a:r>
          </a:p>
          <a:p>
            <a:pPr marR="0" lvl="0" algn="just" defTabSz="914400" rtl="0" eaLnBrk="0" fontAlgn="base" latinLnBrk="0" hangingPunct="0">
              <a:lnSpc>
                <a:spcPct val="100000"/>
              </a:lnSpc>
              <a:spcBef>
                <a:spcPct val="0"/>
              </a:spcBef>
              <a:spcAft>
                <a:spcPct val="0"/>
              </a:spcAft>
              <a:buClrTx/>
              <a:buSzTx/>
              <a:tabLst/>
            </a:pP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Lower Costs</a:t>
            </a: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Reduces operational costs associated with centralized management and intermediaries.</a:t>
            </a:r>
          </a:p>
          <a:p>
            <a:pPr marR="0" lvl="0" algn="just" defTabSz="914400" rtl="0" eaLnBrk="0" fontAlgn="base" latinLnBrk="0" hangingPunct="0">
              <a:lnSpc>
                <a:spcPct val="100000"/>
              </a:lnSpc>
              <a:spcBef>
                <a:spcPct val="0"/>
              </a:spcBef>
              <a:spcAft>
                <a:spcPct val="0"/>
              </a:spcAft>
              <a:buClrTx/>
              <a:buSzTx/>
              <a:tabLst/>
            </a:pP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Global Accessibility</a:t>
            </a: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Anyone with internet access can participate, promoting inclusivity.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1F7536A-5322-EC3E-1BDA-37640EAB551D}"/>
              </a:ext>
            </a:extLst>
          </p:cNvPr>
          <p:cNvSpPr>
            <a:spLocks noGrp="1"/>
          </p:cNvSpPr>
          <p:nvPr>
            <p:ph type="dt" sz="half" idx="10"/>
          </p:nvPr>
        </p:nvSpPr>
        <p:spPr/>
        <p:txBody>
          <a:bodyPr/>
          <a:lstStyle/>
          <a:p>
            <a:fld id="{64013B94-742D-48D3-8FAB-AFA19A2F562D}" type="datetime1">
              <a:rPr lang="en-IN" smtClean="0"/>
              <a:t>01-03-2025</a:t>
            </a:fld>
            <a:endParaRPr lang="en-IN"/>
          </a:p>
        </p:txBody>
      </p:sp>
      <p:sp>
        <p:nvSpPr>
          <p:cNvPr id="5" name="Slide Number Placeholder 4">
            <a:extLst>
              <a:ext uri="{FF2B5EF4-FFF2-40B4-BE49-F238E27FC236}">
                <a16:creationId xmlns:a16="http://schemas.microsoft.com/office/drawing/2014/main" id="{685A7FB8-7B10-0172-48E8-EC60F27A0271}"/>
              </a:ext>
            </a:extLst>
          </p:cNvPr>
          <p:cNvSpPr>
            <a:spLocks noGrp="1"/>
          </p:cNvSpPr>
          <p:nvPr>
            <p:ph type="sldNum" sz="quarter" idx="12"/>
          </p:nvPr>
        </p:nvSpPr>
        <p:spPr/>
        <p:txBody>
          <a:bodyPr/>
          <a:lstStyle/>
          <a:p>
            <a:fld id="{79CD4CE9-F1A3-4728-B74D-DBF6FEAF9982}" type="slidenum">
              <a:rPr lang="en-IN" smtClean="0"/>
              <a:t>9</a:t>
            </a:fld>
            <a:endParaRPr lang="en-IN"/>
          </a:p>
        </p:txBody>
      </p:sp>
      <p:pic>
        <p:nvPicPr>
          <p:cNvPr id="6" name="Picture 5">
            <a:extLst>
              <a:ext uri="{FF2B5EF4-FFF2-40B4-BE49-F238E27FC236}">
                <a16:creationId xmlns:a16="http://schemas.microsoft.com/office/drawing/2014/main" id="{73BAEEEB-CDC6-164B-EE43-E546A9DC3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5085" y="0"/>
            <a:ext cx="1436915" cy="1132114"/>
          </a:xfrm>
          <a:prstGeom prst="rect">
            <a:avLst/>
          </a:prstGeom>
        </p:spPr>
      </p:pic>
      <p:cxnSp>
        <p:nvCxnSpPr>
          <p:cNvPr id="7" name="Straight Connector 6">
            <a:extLst>
              <a:ext uri="{FF2B5EF4-FFF2-40B4-BE49-F238E27FC236}">
                <a16:creationId xmlns:a16="http://schemas.microsoft.com/office/drawing/2014/main" id="{016BAA0A-7992-5B2B-C06C-9329CF1F0D8B}"/>
              </a:ext>
            </a:extLst>
          </p:cNvPr>
          <p:cNvCxnSpPr/>
          <p:nvPr/>
        </p:nvCxnSpPr>
        <p:spPr>
          <a:xfrm flipV="1">
            <a:off x="827314" y="798286"/>
            <a:ext cx="10116457" cy="14516"/>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68453196"/>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C3479E-AED3-6097-20F7-004E4A6AAFE9}"/>
              </a:ext>
            </a:extLst>
          </p:cNvPr>
          <p:cNvSpPr>
            <a:spLocks noGrp="1"/>
          </p:cNvSpPr>
          <p:nvPr>
            <p:ph idx="1"/>
          </p:nvPr>
        </p:nvSpPr>
        <p:spPr>
          <a:xfrm>
            <a:off x="781496" y="782367"/>
            <a:ext cx="9770389" cy="5763576"/>
          </a:xfrm>
        </p:spPr>
        <p:txBody>
          <a:bodyPr>
            <a:noAutofit/>
          </a:bodyPr>
          <a:lstStyle/>
          <a:p>
            <a:pPr marL="0" indent="0">
              <a:buNone/>
            </a:pPr>
            <a:r>
              <a:rPr lang="en-IN" sz="2400" b="1" dirty="0">
                <a:latin typeface="Times New Roman" panose="02020603050405020304" pitchFamily="18" charset="0"/>
                <a:cs typeface="Times New Roman" panose="02020603050405020304" pitchFamily="18" charset="0"/>
              </a:rPr>
              <a:t>SOFTWARE REQUIREMENTS:</a:t>
            </a:r>
            <a:endParaRPr lang="en-IN" sz="2400" dirty="0">
              <a:latin typeface="Times New Roman" panose="02020603050405020304" pitchFamily="18" charset="0"/>
              <a:cs typeface="Times New Roman" panose="02020603050405020304" pitchFamily="18" charset="0"/>
            </a:endParaRPr>
          </a:p>
          <a:p>
            <a:pPr>
              <a:lnSpc>
                <a:spcPct val="100000"/>
              </a:lnSpc>
              <a:spcBef>
                <a:spcPts val="0"/>
              </a:spcBef>
            </a:pPr>
            <a:r>
              <a:rPr lang="en-IN" sz="2000" dirty="0">
                <a:latin typeface="Times New Roman" panose="02020603050405020304" pitchFamily="18" charset="0"/>
                <a:cs typeface="Times New Roman" panose="02020603050405020304" pitchFamily="18" charset="0"/>
              </a:rPr>
              <a:t>Operating System		:	 Linux (Ubuntu, CentOS) or Windows Server</a:t>
            </a:r>
          </a:p>
          <a:p>
            <a:pPr>
              <a:lnSpc>
                <a:spcPct val="100000"/>
              </a:lnSpc>
              <a:spcBef>
                <a:spcPts val="0"/>
              </a:spcBef>
            </a:pPr>
            <a:r>
              <a:rPr lang="en-IN" sz="2000" dirty="0">
                <a:latin typeface="Times New Roman" panose="02020603050405020304" pitchFamily="18" charset="0"/>
                <a:cs typeface="Times New Roman" panose="02020603050405020304" pitchFamily="18" charset="0"/>
              </a:rPr>
              <a:t>Programming Languages	:	 Solidity, Java script</a:t>
            </a:r>
          </a:p>
          <a:p>
            <a:pPr>
              <a:lnSpc>
                <a:spcPct val="100000"/>
              </a:lnSpc>
              <a:spcBef>
                <a:spcPts val="0"/>
              </a:spcBef>
            </a:pPr>
            <a:r>
              <a:rPr lang="en-IN" sz="2000" dirty="0">
                <a:latin typeface="Times New Roman" panose="02020603050405020304" pitchFamily="18" charset="0"/>
                <a:cs typeface="Times New Roman" panose="02020603050405020304" pitchFamily="18" charset="0"/>
              </a:rPr>
              <a:t>Libraries and Frameworks	: 	 React.js, Ether.js/web3.js  </a:t>
            </a:r>
          </a:p>
          <a:p>
            <a:pPr>
              <a:lnSpc>
                <a:spcPct val="100000"/>
              </a:lnSpc>
              <a:spcBef>
                <a:spcPts val="0"/>
              </a:spcBef>
            </a:pPr>
            <a:r>
              <a:rPr lang="en-IN" sz="2000" dirty="0">
                <a:latin typeface="Times New Roman" panose="02020603050405020304" pitchFamily="18" charset="0"/>
                <a:cs typeface="Times New Roman" panose="02020603050405020304" pitchFamily="18" charset="0"/>
              </a:rPr>
              <a:t>Operating System		: 	 Windows, Linux (Ubuntu, CentOS), or macOS</a:t>
            </a:r>
          </a:p>
          <a:p>
            <a:pPr>
              <a:lnSpc>
                <a:spcPct val="100000"/>
              </a:lnSpc>
              <a:spcBef>
                <a:spcPts val="0"/>
              </a:spcBef>
            </a:pPr>
            <a:r>
              <a:rPr lang="en-IN" sz="2000" dirty="0">
                <a:latin typeface="Times New Roman" panose="02020603050405020304" pitchFamily="18" charset="0"/>
                <a:cs typeface="Times New Roman" panose="02020603050405020304" pitchFamily="18" charset="0"/>
              </a:rPr>
              <a:t>IDE 	                                           :               Visual Studio Code</a:t>
            </a:r>
          </a:p>
          <a:p>
            <a:pPr>
              <a:lnSpc>
                <a:spcPct val="100000"/>
              </a:lnSpc>
              <a:spcBef>
                <a:spcPts val="0"/>
              </a:spcBef>
            </a:pPr>
            <a:r>
              <a:rPr lang="en-IN" sz="2000" dirty="0">
                <a:latin typeface="Times New Roman" panose="02020603050405020304" pitchFamily="18" charset="0"/>
                <a:cs typeface="Times New Roman" panose="02020603050405020304" pitchFamily="18" charset="0"/>
              </a:rPr>
              <a:t>Other Tools		              :               Git, Docker (optional), Truffle, Ganache </a:t>
            </a:r>
          </a:p>
          <a:p>
            <a:pPr marL="0" indent="0">
              <a:lnSpc>
                <a:spcPct val="100000"/>
              </a:lnSpc>
              <a:spcBef>
                <a:spcPts val="0"/>
              </a:spcBef>
              <a:buNone/>
            </a:pPr>
            <a:endParaRPr lang="en-IN" sz="20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IN" sz="2000" b="1" dirty="0">
                <a:latin typeface="Times New Roman" panose="02020603050405020304" pitchFamily="18" charset="0"/>
                <a:cs typeface="Times New Roman" panose="02020603050405020304" pitchFamily="18" charset="0"/>
              </a:rPr>
              <a:t>HARDWARE REQUIREMENTS</a:t>
            </a:r>
            <a:endParaRPr lang="en-IN" sz="2000" dirty="0">
              <a:latin typeface="Times New Roman" panose="02020603050405020304" pitchFamily="18" charset="0"/>
              <a:cs typeface="Times New Roman" panose="02020603050405020304" pitchFamily="18" charset="0"/>
            </a:endParaRPr>
          </a:p>
          <a:p>
            <a:pPr>
              <a:lnSpc>
                <a:spcPct val="100000"/>
              </a:lnSpc>
              <a:spcBef>
                <a:spcPts val="0"/>
              </a:spcBef>
            </a:pPr>
            <a:r>
              <a:rPr lang="en-IN" sz="2000" dirty="0">
                <a:latin typeface="Times New Roman" panose="02020603050405020304" pitchFamily="18" charset="0"/>
                <a:cs typeface="Times New Roman" panose="02020603050405020304" pitchFamily="18" charset="0"/>
              </a:rPr>
              <a:t>CPU				:     Multi-core processors</a:t>
            </a:r>
          </a:p>
          <a:p>
            <a:pPr>
              <a:lnSpc>
                <a:spcPct val="100000"/>
              </a:lnSpc>
              <a:spcBef>
                <a:spcPts val="0"/>
              </a:spcBef>
            </a:pPr>
            <a:r>
              <a:rPr lang="en-IN" sz="2000" dirty="0">
                <a:latin typeface="Times New Roman" panose="02020603050405020304" pitchFamily="18" charset="0"/>
                <a:cs typeface="Times New Roman" panose="02020603050405020304" pitchFamily="18" charset="0"/>
              </a:rPr>
              <a:t>GPU(Graphics Processing Unit)	:     Mid-range GPUs</a:t>
            </a:r>
          </a:p>
          <a:p>
            <a:pPr>
              <a:lnSpc>
                <a:spcPct val="100000"/>
              </a:lnSpc>
              <a:spcBef>
                <a:spcPts val="0"/>
              </a:spcBef>
            </a:pPr>
            <a:r>
              <a:rPr lang="en-IN" sz="2000" dirty="0">
                <a:latin typeface="Times New Roman" panose="02020603050405020304" pitchFamily="18" charset="0"/>
                <a:cs typeface="Times New Roman" panose="02020603050405020304" pitchFamily="18" charset="0"/>
              </a:rPr>
              <a:t>RAM				: </a:t>
            </a: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8GB to 16GB</a:t>
            </a:r>
          </a:p>
          <a:p>
            <a:pPr>
              <a:lnSpc>
                <a:spcPct val="100000"/>
              </a:lnSpc>
              <a:spcBef>
                <a:spcPts val="0"/>
              </a:spcBef>
            </a:pPr>
            <a:r>
              <a:rPr lang="en-IN" sz="2000" dirty="0">
                <a:latin typeface="Times New Roman" panose="02020603050405020304" pitchFamily="18" charset="0"/>
                <a:cs typeface="Times New Roman" panose="02020603050405020304" pitchFamily="18" charset="0"/>
              </a:rPr>
              <a:t>Storage			:    32GB to 128GB</a:t>
            </a:r>
          </a:p>
          <a:p>
            <a:pPr marL="0" indent="0">
              <a:lnSpc>
                <a:spcPct val="100000"/>
              </a:lnSpc>
              <a:spcBef>
                <a:spcPts val="0"/>
              </a:spcBef>
              <a:buNone/>
            </a:pPr>
            <a:endParaRPr lang="en-IN" sz="240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71678A2-5FDF-AB25-8769-4D34C1B10919}"/>
              </a:ext>
            </a:extLst>
          </p:cNvPr>
          <p:cNvSpPr>
            <a:spLocks noGrp="1"/>
          </p:cNvSpPr>
          <p:nvPr>
            <p:ph type="sldNum" sz="quarter" idx="12"/>
          </p:nvPr>
        </p:nvSpPr>
        <p:spPr>
          <a:xfrm>
            <a:off x="8673639" y="6216017"/>
            <a:ext cx="2743200" cy="365125"/>
          </a:xfrm>
        </p:spPr>
        <p:txBody>
          <a:bodyPr/>
          <a:lstStyle/>
          <a:p>
            <a:r>
              <a:rPr lang="en-US" sz="1600" dirty="0">
                <a:solidFill>
                  <a:schemeClr val="tx1"/>
                </a:solidFill>
              </a:rPr>
              <a:t>7</a:t>
            </a:r>
            <a:endParaRPr lang="en-IN" sz="1600" dirty="0">
              <a:solidFill>
                <a:schemeClr val="tx1"/>
              </a:solidFill>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69600" y="1"/>
            <a:ext cx="1306286" cy="841828"/>
          </a:xfrm>
          <a:prstGeom prst="rect">
            <a:avLst/>
          </a:prstGeom>
        </p:spPr>
      </p:pic>
      <p:sp>
        <p:nvSpPr>
          <p:cNvPr id="5" name="Rectangle 4"/>
          <p:cNvSpPr/>
          <p:nvPr/>
        </p:nvSpPr>
        <p:spPr>
          <a:xfrm>
            <a:off x="3196561" y="0"/>
            <a:ext cx="5801203" cy="461665"/>
          </a:xfrm>
          <a:prstGeom prst="rect">
            <a:avLst/>
          </a:prstGeom>
        </p:spPr>
        <p:txBody>
          <a:bodyPr wrap="none">
            <a:spAutoFit/>
          </a:bodyPr>
          <a:lstStyle/>
          <a:p>
            <a:pPr algn="ctr"/>
            <a:r>
              <a:rPr lang="en-IN" sz="2400" b="1" dirty="0">
                <a:latin typeface="Times New Roman" panose="02020603050405020304" pitchFamily="18" charset="0"/>
                <a:cs typeface="Times New Roman" panose="02020603050405020304" pitchFamily="18" charset="0"/>
              </a:rPr>
              <a:t>REQUIREMENTS &amp; SPECIFICATION </a:t>
            </a:r>
            <a:endParaRPr lang="en-IN" sz="2400" dirty="0"/>
          </a:p>
        </p:txBody>
      </p:sp>
      <p:cxnSp>
        <p:nvCxnSpPr>
          <p:cNvPr id="8" name="Straight Connector 7"/>
          <p:cNvCxnSpPr/>
          <p:nvPr/>
        </p:nvCxnSpPr>
        <p:spPr>
          <a:xfrm>
            <a:off x="609600" y="667657"/>
            <a:ext cx="10334171" cy="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10" name="Date Placeholder 9"/>
          <p:cNvSpPr>
            <a:spLocks noGrp="1"/>
          </p:cNvSpPr>
          <p:nvPr>
            <p:ph type="dt" sz="half" idx="10"/>
          </p:nvPr>
        </p:nvSpPr>
        <p:spPr/>
        <p:txBody>
          <a:bodyPr/>
          <a:lstStyle/>
          <a:p>
            <a:fld id="{7F147677-F9F4-401B-8592-25212C9ECB2F}" type="datetime1">
              <a:rPr lang="en-IN" smtClean="0"/>
              <a:t>01-03-2025</a:t>
            </a:fld>
            <a:endParaRPr lang="en-IN"/>
          </a:p>
        </p:txBody>
      </p:sp>
    </p:spTree>
    <p:extLst>
      <p:ext uri="{BB962C8B-B14F-4D97-AF65-F5344CB8AC3E}">
        <p14:creationId xmlns:p14="http://schemas.microsoft.com/office/powerpoint/2010/main" val="3438479490"/>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79800" y="103869"/>
            <a:ext cx="4604657" cy="404132"/>
          </a:xfrm>
        </p:spPr>
        <p:txBody>
          <a:bodyPr>
            <a:normAutofit fontScale="90000"/>
          </a:bodyPr>
          <a:lstStyle/>
          <a:p>
            <a:pPr algn="ctr"/>
            <a:r>
              <a:rPr lang="en-US" sz="2400" b="1" dirty="0">
                <a:latin typeface="Times New Roman" panose="02020603050405020304" pitchFamily="18" charset="0"/>
                <a:cs typeface="Times New Roman" panose="02020603050405020304" pitchFamily="18" charset="0"/>
              </a:rPr>
              <a:t>PROJECT TIME PLAN </a:t>
            </a:r>
            <a:endParaRPr lang="en-IN" sz="24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4013B94-742D-48D3-8FAB-AFA19A2F562D}" type="datetime1">
              <a:rPr lang="en-IN" smtClean="0"/>
              <a:t>01-03-2025</a:t>
            </a:fld>
            <a:endParaRPr lang="en-IN"/>
          </a:p>
        </p:txBody>
      </p:sp>
      <p:sp>
        <p:nvSpPr>
          <p:cNvPr id="5" name="Slide Number Placeholder 4"/>
          <p:cNvSpPr>
            <a:spLocks noGrp="1"/>
          </p:cNvSpPr>
          <p:nvPr>
            <p:ph type="sldNum" sz="quarter" idx="12"/>
          </p:nvPr>
        </p:nvSpPr>
        <p:spPr/>
        <p:txBody>
          <a:bodyPr/>
          <a:lstStyle/>
          <a:p>
            <a:fld id="{79CD4CE9-F1A3-4728-B74D-DBF6FEAF9982}" type="slidenum">
              <a:rPr lang="en-IN" smtClean="0"/>
              <a:t>11</a:t>
            </a:fld>
            <a:endParaRPr lang="en-IN"/>
          </a:p>
        </p:txBody>
      </p:sp>
      <p:graphicFrame>
        <p:nvGraphicFramePr>
          <p:cNvPr id="6" name="Table 5"/>
          <p:cNvGraphicFramePr>
            <a:graphicFrameLocks noGrp="1"/>
          </p:cNvGraphicFramePr>
          <p:nvPr>
            <p:extLst>
              <p:ext uri="{D42A27DB-BD31-4B8C-83A1-F6EECF244321}">
                <p14:modId xmlns:p14="http://schemas.microsoft.com/office/powerpoint/2010/main" val="2729630090"/>
              </p:ext>
            </p:extLst>
          </p:nvPr>
        </p:nvGraphicFramePr>
        <p:xfrm>
          <a:off x="2562587" y="887910"/>
          <a:ext cx="7669983" cy="4506398"/>
        </p:xfrm>
        <a:graphic>
          <a:graphicData uri="http://schemas.openxmlformats.org/drawingml/2006/table">
            <a:tbl>
              <a:tblPr firstRow="1" firstCol="1" bandRow="1">
                <a:tableStyleId>{5940675A-B579-460E-94D1-54222C63F5DA}</a:tableStyleId>
              </a:tblPr>
              <a:tblGrid>
                <a:gridCol w="818583">
                  <a:extLst>
                    <a:ext uri="{9D8B030D-6E8A-4147-A177-3AD203B41FA5}">
                      <a16:colId xmlns:a16="http://schemas.microsoft.com/office/drawing/2014/main" val="20000"/>
                    </a:ext>
                  </a:extLst>
                </a:gridCol>
                <a:gridCol w="3292623">
                  <a:extLst>
                    <a:ext uri="{9D8B030D-6E8A-4147-A177-3AD203B41FA5}">
                      <a16:colId xmlns:a16="http://schemas.microsoft.com/office/drawing/2014/main" val="20001"/>
                    </a:ext>
                  </a:extLst>
                </a:gridCol>
                <a:gridCol w="3558777">
                  <a:extLst>
                    <a:ext uri="{9D8B030D-6E8A-4147-A177-3AD203B41FA5}">
                      <a16:colId xmlns:a16="http://schemas.microsoft.com/office/drawing/2014/main" val="20002"/>
                    </a:ext>
                  </a:extLst>
                </a:gridCol>
              </a:tblGrid>
              <a:tr h="566762">
                <a:tc>
                  <a:txBody>
                    <a:bodyPr/>
                    <a:lstStyle/>
                    <a:p>
                      <a:pPr marL="0" marR="0" algn="ctr">
                        <a:lnSpc>
                          <a:spcPct val="107000"/>
                        </a:lnSpc>
                        <a:spcBef>
                          <a:spcPts val="0"/>
                        </a:spcBef>
                        <a:spcAft>
                          <a:spcPts val="0"/>
                        </a:spcAft>
                      </a:pPr>
                      <a:r>
                        <a:rPr lang="en-IN" sz="2400" b="1" dirty="0">
                          <a:effectLst/>
                          <a:latin typeface="Times New Roman" panose="02020603050405020304" pitchFamily="18" charset="0"/>
                          <a:cs typeface="Times New Roman" panose="02020603050405020304" pitchFamily="18" charset="0"/>
                        </a:rPr>
                        <a:t>SNO</a:t>
                      </a:r>
                      <a:endParaRPr lang="en-IN" sz="2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IN" sz="2400" b="1" dirty="0">
                          <a:effectLst/>
                          <a:latin typeface="Times New Roman" panose="02020603050405020304" pitchFamily="18" charset="0"/>
                          <a:cs typeface="Times New Roman" panose="02020603050405020304" pitchFamily="18" charset="0"/>
                        </a:rPr>
                        <a:t>DURATION</a:t>
                      </a:r>
                      <a:endParaRPr lang="en-IN" sz="2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IN" sz="2400" b="1" dirty="0">
                          <a:effectLst/>
                          <a:latin typeface="Times New Roman" panose="02020603050405020304" pitchFamily="18" charset="0"/>
                          <a:cs typeface="Times New Roman" panose="02020603050405020304" pitchFamily="18" charset="0"/>
                        </a:rPr>
                        <a:t>TASK</a:t>
                      </a:r>
                      <a:endParaRPr lang="en-IN" sz="2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66762">
                <a:tc>
                  <a:txBody>
                    <a:bodyPr/>
                    <a:lstStyle/>
                    <a:p>
                      <a:pPr marL="342900" marR="0" lvl="0" indent="-342900" algn="ctr">
                        <a:lnSpc>
                          <a:spcPct val="107000"/>
                        </a:lnSpc>
                        <a:spcBef>
                          <a:spcPts val="0"/>
                        </a:spcBef>
                        <a:spcAft>
                          <a:spcPts val="0"/>
                        </a:spcAft>
                        <a:buFont typeface="+mj-lt"/>
                        <a:buAutoNum type="arabicPeriod"/>
                      </a:pPr>
                      <a:r>
                        <a:rPr lang="en-IN" sz="1800" dirty="0">
                          <a:effectLst/>
                          <a:latin typeface="Times New Roman" panose="02020603050405020304" pitchFamily="18" charset="0"/>
                          <a:cs typeface="Times New Roman" panose="02020603050405020304" pitchFamily="18" charset="0"/>
                        </a:rPr>
                        <a:t> </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10.02.2025 – 15.02.2025</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IN" sz="1800">
                          <a:effectLst/>
                          <a:latin typeface="Times New Roman" panose="02020603050405020304" pitchFamily="18" charset="0"/>
                          <a:cs typeface="Times New Roman" panose="02020603050405020304" pitchFamily="18" charset="0"/>
                        </a:rPr>
                        <a:t>Submission of abstract</a:t>
                      </a:r>
                      <a:endParaRPr lang="en-IN" sz="1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566762">
                <a:tc>
                  <a:txBody>
                    <a:bodyPr/>
                    <a:lstStyle/>
                    <a:p>
                      <a:pPr marL="0" marR="0" lvl="0" indent="0" algn="ctr">
                        <a:lnSpc>
                          <a:spcPct val="107000"/>
                        </a:lnSpc>
                        <a:spcBef>
                          <a:spcPts val="0"/>
                        </a:spcBef>
                        <a:spcAft>
                          <a:spcPts val="0"/>
                        </a:spcAft>
                        <a:buFont typeface="+mj-lt"/>
                        <a:buNone/>
                      </a:pPr>
                      <a:r>
                        <a:rPr lang="en-IN" sz="1800" dirty="0">
                          <a:effectLst/>
                          <a:latin typeface="Times New Roman" panose="02020603050405020304" pitchFamily="18" charset="0"/>
                          <a:cs typeface="Times New Roman" panose="02020603050405020304" pitchFamily="18" charset="0"/>
                        </a:rPr>
                        <a:t>2. </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24.02.2025 – 01.03.2025</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IN" sz="1800" dirty="0">
                          <a:effectLst/>
                          <a:latin typeface="Times New Roman" panose="02020603050405020304" pitchFamily="18" charset="0"/>
                          <a:cs typeface="Times New Roman" panose="02020603050405020304" pitchFamily="18" charset="0"/>
                        </a:rPr>
                        <a:t>Literature survey </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566762">
                <a:tc>
                  <a:txBody>
                    <a:bodyPr/>
                    <a:lstStyle/>
                    <a:p>
                      <a:pPr marL="0" marR="0" lvl="0" indent="0" algn="ctr">
                        <a:lnSpc>
                          <a:spcPct val="107000"/>
                        </a:lnSpc>
                        <a:spcBef>
                          <a:spcPts val="0"/>
                        </a:spcBef>
                        <a:spcAft>
                          <a:spcPts val="0"/>
                        </a:spcAft>
                        <a:buFont typeface="+mj-lt"/>
                        <a:buNone/>
                      </a:pPr>
                      <a:r>
                        <a:rPr lang="en-IN" sz="1800" dirty="0">
                          <a:effectLst/>
                          <a:latin typeface="Times New Roman" panose="02020603050405020304" pitchFamily="18" charset="0"/>
                          <a:cs typeface="Times New Roman" panose="02020603050405020304" pitchFamily="18" charset="0"/>
                        </a:rPr>
                        <a:t>3. </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24.03.2025 – 29.03.2025</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Project Design</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392430">
                <a:tc>
                  <a:txBody>
                    <a:bodyPr/>
                    <a:lstStyle/>
                    <a:p>
                      <a:pPr marL="0" marR="0" lvl="0" indent="0" algn="ctr">
                        <a:lnSpc>
                          <a:spcPct val="107000"/>
                        </a:lnSpc>
                        <a:spcBef>
                          <a:spcPts val="0"/>
                        </a:spcBef>
                        <a:spcAft>
                          <a:spcPts val="0"/>
                        </a:spcAft>
                        <a:buFont typeface="+mj-lt"/>
                        <a:buNone/>
                      </a:pPr>
                      <a:r>
                        <a:rPr lang="en-IN" sz="1800" dirty="0">
                          <a:effectLst/>
                          <a:latin typeface="Times New Roman" panose="02020603050405020304" pitchFamily="18" charset="0"/>
                          <a:cs typeface="Times New Roman" panose="02020603050405020304" pitchFamily="18" charset="0"/>
                        </a:rPr>
                        <a:t>4. </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14.04.2025 – 19.04.2025</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8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mplementation</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438679">
                <a:tc>
                  <a:txBody>
                    <a:bodyPr/>
                    <a:lstStyle/>
                    <a:p>
                      <a:pPr marL="0" marR="0" lvl="0" indent="0" algn="ctr">
                        <a:lnSpc>
                          <a:spcPct val="107000"/>
                        </a:lnSpc>
                        <a:spcBef>
                          <a:spcPts val="0"/>
                        </a:spcBef>
                        <a:spcAft>
                          <a:spcPts val="0"/>
                        </a:spcAft>
                        <a:buFont typeface="+mj-lt"/>
                        <a:buNone/>
                      </a:pPr>
                      <a:r>
                        <a:rPr lang="en-US" sz="1800" dirty="0">
                          <a:solidFill>
                            <a:schemeClr val="tx1"/>
                          </a:solidFill>
                          <a:effectLst/>
                          <a:latin typeface="Times New Roman" panose="02020603050405020304" pitchFamily="18" charset="0"/>
                          <a:ea typeface="+mn-ea"/>
                          <a:cs typeface="Times New Roman" panose="02020603050405020304" pitchFamily="18" charset="0"/>
                        </a:rPr>
                        <a:t>5.</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28.04.2025 – 03.05.2025</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8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esting</a:t>
                      </a:r>
                      <a:r>
                        <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&amp; Validation </a:t>
                      </a:r>
                    </a:p>
                  </a:txBody>
                  <a:tcPr marL="68580" marR="68580" marT="0" marB="0"/>
                </a:tc>
                <a:extLst>
                  <a:ext uri="{0D108BD9-81ED-4DB2-BD59-A6C34878D82A}">
                    <a16:rowId xmlns:a16="http://schemas.microsoft.com/office/drawing/2014/main" val="10005"/>
                  </a:ext>
                </a:extLst>
              </a:tr>
              <a:tr h="273516">
                <a:tc>
                  <a:txBody>
                    <a:bodyPr/>
                    <a:lstStyle/>
                    <a:p>
                      <a:pPr marL="0" marR="0" lvl="0" indent="0" algn="ctr">
                        <a:lnSpc>
                          <a:spcPct val="107000"/>
                        </a:lnSpc>
                        <a:spcBef>
                          <a:spcPts val="0"/>
                        </a:spcBef>
                        <a:spcAft>
                          <a:spcPts val="0"/>
                        </a:spcAft>
                        <a:buFont typeface="+mj-lt"/>
                        <a:buNone/>
                      </a:pPr>
                      <a:r>
                        <a:rPr lang="en-IN" sz="1800" dirty="0">
                          <a:effectLst/>
                          <a:latin typeface="Times New Roman" panose="02020603050405020304" pitchFamily="18" charset="0"/>
                          <a:cs typeface="Times New Roman" panose="02020603050405020304" pitchFamily="18" charset="0"/>
                        </a:rPr>
                        <a:t>6. </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IN" sz="1800">
                          <a:effectLst/>
                          <a:latin typeface="Times New Roman" panose="02020603050405020304" pitchFamily="18" charset="0"/>
                          <a:cs typeface="Times New Roman" panose="02020603050405020304" pitchFamily="18" charset="0"/>
                        </a:rPr>
                        <a:t>---</a:t>
                      </a:r>
                      <a:endParaRPr lang="en-IN" sz="1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IN" sz="1800" dirty="0">
                          <a:effectLst/>
                          <a:latin typeface="Times New Roman" panose="02020603050405020304" pitchFamily="18" charset="0"/>
                          <a:cs typeface="Times New Roman" panose="02020603050405020304" pitchFamily="18" charset="0"/>
                        </a:rPr>
                        <a:t>--</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566762">
                <a:tc>
                  <a:txBody>
                    <a:bodyPr/>
                    <a:lstStyle/>
                    <a:p>
                      <a:pPr marL="0" marR="0" lvl="0" indent="0" algn="ctr">
                        <a:lnSpc>
                          <a:spcPct val="107000"/>
                        </a:lnSpc>
                        <a:spcBef>
                          <a:spcPts val="0"/>
                        </a:spcBef>
                        <a:spcAft>
                          <a:spcPts val="0"/>
                        </a:spcAft>
                        <a:buFont typeface="+mj-lt"/>
                        <a:buNone/>
                      </a:pPr>
                      <a:r>
                        <a:rPr lang="en-IN" sz="1800" dirty="0">
                          <a:effectLst/>
                          <a:latin typeface="Times New Roman" panose="02020603050405020304" pitchFamily="18" charset="0"/>
                          <a:cs typeface="Times New Roman" panose="02020603050405020304" pitchFamily="18" charset="0"/>
                        </a:rPr>
                        <a:t>7. </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15.04.2025</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IN" sz="1800" dirty="0">
                          <a:effectLst/>
                          <a:latin typeface="Times New Roman" panose="02020603050405020304" pitchFamily="18" charset="0"/>
                          <a:cs typeface="Times New Roman" panose="02020603050405020304" pitchFamily="18" charset="0"/>
                        </a:rPr>
                        <a:t>Submission of Publication document</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r h="566762">
                <a:tc>
                  <a:txBody>
                    <a:bodyPr/>
                    <a:lstStyle/>
                    <a:p>
                      <a:pPr marL="0" marR="0" lvl="0" indent="0" algn="ctr">
                        <a:lnSpc>
                          <a:spcPct val="107000"/>
                        </a:lnSpc>
                        <a:spcBef>
                          <a:spcPts val="0"/>
                        </a:spcBef>
                        <a:spcAft>
                          <a:spcPts val="0"/>
                        </a:spcAft>
                        <a:buFont typeface="+mj-lt"/>
                        <a:buNone/>
                      </a:pPr>
                      <a:r>
                        <a:rPr lang="en-IN" sz="1800" dirty="0">
                          <a:effectLst/>
                          <a:latin typeface="Times New Roman" panose="02020603050405020304" pitchFamily="18" charset="0"/>
                          <a:cs typeface="Times New Roman" panose="02020603050405020304" pitchFamily="18" charset="0"/>
                        </a:rPr>
                        <a:t>8. </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25.04.2025</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IN" sz="1800" dirty="0">
                          <a:effectLst/>
                          <a:latin typeface="Times New Roman" panose="02020603050405020304" pitchFamily="18" charset="0"/>
                          <a:cs typeface="Times New Roman" panose="02020603050405020304" pitchFamily="18" charset="0"/>
                        </a:rPr>
                        <a:t>Submission of Final Project Document </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8"/>
                  </a:ext>
                </a:extLst>
              </a:tr>
            </a:tbl>
          </a:graphicData>
        </a:graphic>
      </p:graphicFrame>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69600" y="1"/>
            <a:ext cx="1306286" cy="841828"/>
          </a:xfrm>
          <a:prstGeom prst="rect">
            <a:avLst/>
          </a:prstGeom>
        </p:spPr>
      </p:pic>
      <p:cxnSp>
        <p:nvCxnSpPr>
          <p:cNvPr id="8" name="Straight Connector 7"/>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38325990"/>
      </p:ext>
    </p:extLst>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2286" y="29029"/>
            <a:ext cx="2452914" cy="462189"/>
          </a:xfrm>
        </p:spPr>
        <p:txBody>
          <a:bodyPr>
            <a:normAutofit/>
          </a:bodyPr>
          <a:lstStyle/>
          <a:p>
            <a:pPr algn="ctr"/>
            <a:r>
              <a:rPr lang="en-US" sz="2400" dirty="0">
                <a:latin typeface="Times New Roman" panose="02020603050405020304" pitchFamily="18" charset="0"/>
                <a:cs typeface="Times New Roman" panose="02020603050405020304" pitchFamily="18" charset="0"/>
              </a:rPr>
              <a:t>CONCLUSION</a:t>
            </a:r>
            <a:endParaRPr lang="en-IN"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4013B94-742D-48D3-8FAB-AFA19A2F562D}" type="datetime1">
              <a:rPr lang="en-IN" smtClean="0"/>
              <a:t>01-03-2025</a:t>
            </a:fld>
            <a:endParaRPr lang="en-IN"/>
          </a:p>
        </p:txBody>
      </p:sp>
      <p:sp>
        <p:nvSpPr>
          <p:cNvPr id="5" name="Slide Number Placeholder 4"/>
          <p:cNvSpPr>
            <a:spLocks noGrp="1"/>
          </p:cNvSpPr>
          <p:nvPr>
            <p:ph type="sldNum" sz="quarter" idx="12"/>
          </p:nvPr>
        </p:nvSpPr>
        <p:spPr/>
        <p:txBody>
          <a:bodyPr/>
          <a:lstStyle/>
          <a:p>
            <a:fld id="{79CD4CE9-F1A3-4728-B74D-DBF6FEAF9982}" type="slidenum">
              <a:rPr lang="en-IN" smtClean="0"/>
              <a:t>12</a:t>
            </a:fld>
            <a:endParaRPr lang="en-IN"/>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69600" y="1"/>
            <a:ext cx="1306286" cy="841828"/>
          </a:xfrm>
          <a:prstGeom prst="rect">
            <a:avLst/>
          </a:prstGeom>
        </p:spPr>
      </p:pic>
      <p:cxnSp>
        <p:nvCxnSpPr>
          <p:cNvPr id="7" name="Straight Connector 6"/>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43E6B078-2607-3CFD-A095-052FB44A98A0}"/>
              </a:ext>
            </a:extLst>
          </p:cNvPr>
          <p:cNvSpPr txBox="1"/>
          <p:nvPr/>
        </p:nvSpPr>
        <p:spPr>
          <a:xfrm>
            <a:off x="616079" y="1018268"/>
            <a:ext cx="10959841" cy="1631216"/>
          </a:xfrm>
          <a:prstGeom prst="rect">
            <a:avLst/>
          </a:prstGeom>
          <a:noFill/>
        </p:spPr>
        <p:txBody>
          <a:bodyPr wrap="square" rtlCol="0">
            <a:spAutoFit/>
          </a:bodyPr>
          <a:lstStyle/>
          <a:p>
            <a:r>
              <a:rPr lang="en-IN" sz="2000" dirty="0">
                <a:effectLst/>
                <a:latin typeface="Times New Roman" panose="02020603050405020304" pitchFamily="18" charset="0"/>
                <a:ea typeface="Times New Roman" panose="02020603050405020304" pitchFamily="18" charset="0"/>
              </a:rPr>
              <a:t>The Blockchain-Based Prediction Market project presents a novel approach to decentralized forecasting, combining Ethereum blockchain technology with game theory to provide a transparent and reliable platform. With applications across industries, this system addresses the inefficiencies of traditional markets, paving the way for innovative and trustworthy prediction solutions.</a:t>
            </a:r>
          </a:p>
          <a:p>
            <a:endParaRPr lang="en-IN" sz="2000" dirty="0"/>
          </a:p>
        </p:txBody>
      </p:sp>
    </p:spTree>
    <p:extLst>
      <p:ext uri="{BB962C8B-B14F-4D97-AF65-F5344CB8AC3E}">
        <p14:creationId xmlns:p14="http://schemas.microsoft.com/office/powerpoint/2010/main" val="674342889"/>
      </p:ext>
    </p:extLst>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C28E8E-4AF0-4DB7-787C-6536FD119F53}"/>
              </a:ext>
            </a:extLst>
          </p:cNvPr>
          <p:cNvSpPr>
            <a:spLocks noGrp="1"/>
          </p:cNvSpPr>
          <p:nvPr>
            <p:ph idx="1"/>
          </p:nvPr>
        </p:nvSpPr>
        <p:spPr>
          <a:xfrm>
            <a:off x="210457" y="958547"/>
            <a:ext cx="11771086" cy="6193970"/>
          </a:xfrm>
        </p:spPr>
        <p:txBody>
          <a:bodyPr>
            <a:noAutofit/>
          </a:bodyPr>
          <a:lstStyle/>
          <a:p>
            <a:pPr marL="342900" lvl="0" indent="-342900" algn="just">
              <a:lnSpc>
                <a:spcPct val="107000"/>
              </a:lnSpc>
              <a:spcAft>
                <a:spcPts val="1245"/>
              </a:spcAft>
              <a:buFont typeface="+mj-lt"/>
              <a:buAutoNum type="arabicPeriod"/>
              <a:tabLst>
                <a:tab pos="457200" algn="l"/>
              </a:tabLst>
            </a:pPr>
            <a:r>
              <a:rPr lang="en-IN" sz="2000" b="1" dirty="0" err="1">
                <a:effectLst/>
                <a:latin typeface="Times New Roman" panose="02020603050405020304" pitchFamily="18" charset="0"/>
                <a:ea typeface="Times New Roman" panose="02020603050405020304" pitchFamily="18" charset="0"/>
              </a:rPr>
              <a:t>Vitalik</a:t>
            </a:r>
            <a:r>
              <a:rPr lang="en-IN" sz="2000" b="1" dirty="0">
                <a:effectLst/>
                <a:latin typeface="Times New Roman" panose="02020603050405020304" pitchFamily="18" charset="0"/>
                <a:ea typeface="Times New Roman" panose="02020603050405020304" pitchFamily="18" charset="0"/>
              </a:rPr>
              <a:t> </a:t>
            </a:r>
            <a:r>
              <a:rPr lang="en-IN" sz="2000" b="1" dirty="0" err="1">
                <a:effectLst/>
                <a:latin typeface="Times New Roman" panose="02020603050405020304" pitchFamily="18" charset="0"/>
                <a:ea typeface="Times New Roman" panose="02020603050405020304" pitchFamily="18" charset="0"/>
              </a:rPr>
              <a:t>Buterin</a:t>
            </a:r>
            <a:r>
              <a:rPr lang="en-IN" sz="2000" dirty="0">
                <a:effectLst/>
                <a:latin typeface="Times New Roman" panose="02020603050405020304" pitchFamily="18" charset="0"/>
                <a:ea typeface="Times New Roman" panose="02020603050405020304" pitchFamily="18" charset="0"/>
              </a:rPr>
              <a:t> (2013). </a:t>
            </a:r>
            <a:r>
              <a:rPr lang="en-IN" sz="2000" i="1" dirty="0">
                <a:effectLst/>
                <a:latin typeface="Times New Roman" panose="02020603050405020304" pitchFamily="18" charset="0"/>
                <a:ea typeface="Times New Roman" panose="02020603050405020304" pitchFamily="18" charset="0"/>
              </a:rPr>
              <a:t>Ethereum Whitepaper: A Next-Generation Smart Contract and Decentralized Application Platform</a:t>
            </a:r>
            <a:r>
              <a:rPr lang="en-IN" sz="2000" dirty="0">
                <a:effectLst/>
                <a:latin typeface="Times New Roman" panose="02020603050405020304" pitchFamily="18" charset="0"/>
                <a:ea typeface="Times New Roman" panose="02020603050405020304" pitchFamily="18" charset="0"/>
              </a:rPr>
              <a:t>. Available at: https://ethereum.org/en/whitepaper/</a:t>
            </a:r>
            <a:endParaRPr lang="en-IN" sz="1800" dirty="0">
              <a:effectLst/>
              <a:latin typeface="Calibri" panose="020F0502020204030204" pitchFamily="34" charset="0"/>
              <a:ea typeface="Calibri" panose="020F0502020204030204" pitchFamily="34" charset="0"/>
            </a:endParaRPr>
          </a:p>
          <a:p>
            <a:pPr marL="342900" lvl="0" indent="-342900" algn="just">
              <a:lnSpc>
                <a:spcPct val="107000"/>
              </a:lnSpc>
              <a:spcAft>
                <a:spcPts val="1245"/>
              </a:spcAft>
              <a:buFont typeface="+mj-lt"/>
              <a:buAutoNum type="arabicPeriod"/>
              <a:tabLst>
                <a:tab pos="457200" algn="l"/>
              </a:tabLst>
            </a:pPr>
            <a:r>
              <a:rPr lang="en-IN" sz="2000" b="1" dirty="0">
                <a:effectLst/>
                <a:latin typeface="Times New Roman" panose="02020603050405020304" pitchFamily="18" charset="0"/>
                <a:ea typeface="Times New Roman" panose="02020603050405020304" pitchFamily="18" charset="0"/>
              </a:rPr>
              <a:t>Solidity Documentation</a:t>
            </a:r>
            <a:r>
              <a:rPr lang="en-IN" sz="2000" dirty="0">
                <a:effectLst/>
                <a:latin typeface="Times New Roman" panose="02020603050405020304" pitchFamily="18" charset="0"/>
                <a:ea typeface="Times New Roman" panose="02020603050405020304" pitchFamily="18" charset="0"/>
              </a:rPr>
              <a:t> – Official guide to writing Ethereum smart contracts. Available at: https://docs.soliditylang.org/</a:t>
            </a:r>
            <a:endParaRPr lang="en-IN" sz="1800" dirty="0">
              <a:effectLst/>
              <a:latin typeface="Calibri" panose="020F0502020204030204" pitchFamily="34" charset="0"/>
              <a:ea typeface="Calibri" panose="020F0502020204030204" pitchFamily="34" charset="0"/>
            </a:endParaRPr>
          </a:p>
          <a:p>
            <a:pPr marL="342900" lvl="0" indent="-342900" algn="just">
              <a:lnSpc>
                <a:spcPct val="107000"/>
              </a:lnSpc>
              <a:spcAft>
                <a:spcPts val="1245"/>
              </a:spcAft>
              <a:buFont typeface="+mj-lt"/>
              <a:buAutoNum type="arabicPeriod"/>
              <a:tabLst>
                <a:tab pos="457200" algn="l"/>
              </a:tabLst>
            </a:pPr>
            <a:r>
              <a:rPr lang="en-IN" sz="2000" b="1" dirty="0">
                <a:effectLst/>
                <a:latin typeface="Times New Roman" panose="02020603050405020304" pitchFamily="18" charset="0"/>
                <a:ea typeface="Times New Roman" panose="02020603050405020304" pitchFamily="18" charset="0"/>
              </a:rPr>
              <a:t>Ethereum Web3.js API</a:t>
            </a:r>
            <a:r>
              <a:rPr lang="en-IN" sz="2000" dirty="0">
                <a:effectLst/>
                <a:latin typeface="Times New Roman" panose="02020603050405020304" pitchFamily="18" charset="0"/>
                <a:ea typeface="Times New Roman" panose="02020603050405020304" pitchFamily="18" charset="0"/>
              </a:rPr>
              <a:t> – Used for interacting with smart contracts from the frontend. Available at: </a:t>
            </a:r>
            <a:r>
              <a:rPr lang="en-IN" sz="2000" u="sng" dirty="0">
                <a:solidFill>
                  <a:srgbClr val="0563C1"/>
                </a:solidFill>
                <a:effectLst/>
                <a:latin typeface="Times New Roman" panose="02020603050405020304" pitchFamily="18" charset="0"/>
                <a:ea typeface="Times New Roman" panose="02020603050405020304" pitchFamily="18" charset="0"/>
                <a:hlinkClick r:id="rId2"/>
              </a:rPr>
              <a:t>https://web3js.readthedocs.io/</a:t>
            </a:r>
            <a:endParaRPr lang="en-IN" sz="1800" dirty="0">
              <a:effectLst/>
              <a:latin typeface="Calibri" panose="020F0502020204030204" pitchFamily="34" charset="0"/>
              <a:ea typeface="Calibri" panose="020F0502020204030204" pitchFamily="34" charset="0"/>
            </a:endParaRPr>
          </a:p>
          <a:p>
            <a:pPr marL="342900" lvl="0" indent="-342900">
              <a:buFont typeface="+mj-lt"/>
              <a:buAutoNum type="arabicPeriod"/>
              <a:tabLst>
                <a:tab pos="457200" algn="l"/>
              </a:tabLst>
            </a:pPr>
            <a:r>
              <a:rPr lang="en-IN" sz="2000" b="1" dirty="0">
                <a:effectLst/>
                <a:latin typeface="Times New Roman" panose="02020603050405020304" pitchFamily="18" charset="0"/>
                <a:ea typeface="Times New Roman" panose="02020603050405020304" pitchFamily="18" charset="0"/>
              </a:rPr>
              <a:t>Berg, C., Davidson, S., &amp; Potts, J.</a:t>
            </a:r>
            <a:r>
              <a:rPr lang="en-IN" sz="2000" dirty="0">
                <a:effectLst/>
                <a:latin typeface="Times New Roman" panose="02020603050405020304" pitchFamily="18" charset="0"/>
                <a:ea typeface="Times New Roman" panose="02020603050405020304" pitchFamily="18" charset="0"/>
              </a:rPr>
              <a:t> (2018). </a:t>
            </a:r>
            <a:r>
              <a:rPr lang="en-IN" sz="2000" i="1" dirty="0">
                <a:effectLst/>
                <a:latin typeface="Times New Roman" panose="02020603050405020304" pitchFamily="18" charset="0"/>
                <a:ea typeface="Times New Roman" panose="02020603050405020304" pitchFamily="18" charset="0"/>
              </a:rPr>
              <a:t>Prediction Markets: Mechanisms, Applications, and Regulation</a:t>
            </a:r>
            <a:r>
              <a:rPr lang="en-IN" sz="2000" dirty="0">
                <a:effectLst/>
                <a:latin typeface="Times New Roman" panose="02020603050405020304" pitchFamily="18" charset="0"/>
                <a:ea typeface="Times New Roman" panose="02020603050405020304" pitchFamily="18" charset="0"/>
              </a:rPr>
              <a:t>. Journal of Financial Markets.</a:t>
            </a:r>
          </a:p>
          <a:p>
            <a:pPr marL="342900" lvl="0" indent="-342900">
              <a:buFont typeface="+mj-lt"/>
              <a:buAutoNum type="arabicPeriod"/>
              <a:tabLst>
                <a:tab pos="457200" algn="l"/>
              </a:tabLst>
            </a:pPr>
            <a:r>
              <a:rPr lang="en-IN" sz="2000" b="1" dirty="0">
                <a:effectLst/>
                <a:latin typeface="Times New Roman" panose="02020603050405020304" pitchFamily="18" charset="0"/>
                <a:ea typeface="Times New Roman" panose="02020603050405020304" pitchFamily="18" charset="0"/>
              </a:rPr>
              <a:t>Osborne, M. J.</a:t>
            </a:r>
            <a:r>
              <a:rPr lang="en-IN" sz="2000" dirty="0">
                <a:effectLst/>
                <a:latin typeface="Times New Roman" panose="02020603050405020304" pitchFamily="18" charset="0"/>
                <a:ea typeface="Times New Roman" panose="02020603050405020304" pitchFamily="18" charset="0"/>
              </a:rPr>
              <a:t> (2004). </a:t>
            </a:r>
            <a:r>
              <a:rPr lang="en-IN" sz="2000" i="1" dirty="0">
                <a:effectLst/>
                <a:latin typeface="Times New Roman" panose="02020603050405020304" pitchFamily="18" charset="0"/>
                <a:ea typeface="Times New Roman" panose="02020603050405020304" pitchFamily="18" charset="0"/>
              </a:rPr>
              <a:t>An Introduction to Game Theory</a:t>
            </a:r>
            <a:r>
              <a:rPr lang="en-IN" sz="2000" dirty="0">
                <a:effectLst/>
                <a:latin typeface="Times New Roman" panose="02020603050405020304" pitchFamily="18" charset="0"/>
                <a:ea typeface="Times New Roman" panose="02020603050405020304" pitchFamily="18" charset="0"/>
              </a:rPr>
              <a:t>. Oxford University Press</a:t>
            </a:r>
          </a:p>
          <a:p>
            <a:pPr marL="342900" lvl="0" indent="-342900" algn="just">
              <a:lnSpc>
                <a:spcPct val="107000"/>
              </a:lnSpc>
              <a:spcAft>
                <a:spcPts val="1245"/>
              </a:spcAft>
              <a:buFont typeface="+mj-lt"/>
              <a:buAutoNum type="arabicPeriod"/>
              <a:tabLst>
                <a:tab pos="457200" algn="l"/>
              </a:tabLst>
            </a:pPr>
            <a:r>
              <a:rPr lang="en-IN" sz="2000" b="1" dirty="0">
                <a:effectLst/>
                <a:latin typeface="Times New Roman" panose="02020603050405020304" pitchFamily="18" charset="0"/>
                <a:ea typeface="Calibri" panose="020F0502020204030204" pitchFamily="34" charset="0"/>
              </a:rPr>
              <a:t>Gnosis Prediction Market</a:t>
            </a:r>
            <a:r>
              <a:rPr lang="en-IN" sz="2000" dirty="0">
                <a:effectLst/>
                <a:latin typeface="Times New Roman" panose="02020603050405020304" pitchFamily="18" charset="0"/>
                <a:ea typeface="Calibri" panose="020F0502020204030204" pitchFamily="34" charset="0"/>
              </a:rPr>
              <a:t> Conditional token-based prediction market. Available at: </a:t>
            </a:r>
            <a:r>
              <a:rPr lang="en-IN" sz="2000" u="sng" dirty="0">
                <a:solidFill>
                  <a:srgbClr val="0000FF"/>
                </a:solidFill>
                <a:effectLst/>
                <a:latin typeface="Times New Roman" panose="02020603050405020304" pitchFamily="18" charset="0"/>
                <a:ea typeface="Calibri" panose="020F0502020204030204" pitchFamily="34" charset="0"/>
                <a:hlinkClick r:id="rId3"/>
              </a:rPr>
              <a:t>https://gnosis.io/</a:t>
            </a:r>
            <a:endParaRPr lang="en-IN" sz="1800" dirty="0">
              <a:effectLst/>
              <a:latin typeface="Calibri" panose="020F0502020204030204" pitchFamily="34" charset="0"/>
              <a:ea typeface="Calibri" panose="020F0502020204030204" pitchFamily="34" charset="0"/>
            </a:endParaRPr>
          </a:p>
        </p:txBody>
      </p:sp>
      <p:sp>
        <p:nvSpPr>
          <p:cNvPr id="5" name="Slide Number Placeholder 4">
            <a:extLst>
              <a:ext uri="{FF2B5EF4-FFF2-40B4-BE49-F238E27FC236}">
                <a16:creationId xmlns:a16="http://schemas.microsoft.com/office/drawing/2014/main" id="{BB008065-26D3-ED2C-20EE-637E8C123858}"/>
              </a:ext>
            </a:extLst>
          </p:cNvPr>
          <p:cNvSpPr>
            <a:spLocks noGrp="1"/>
          </p:cNvSpPr>
          <p:nvPr>
            <p:ph type="sldNum" sz="quarter" idx="12"/>
          </p:nvPr>
        </p:nvSpPr>
        <p:spPr>
          <a:xfrm>
            <a:off x="8610600" y="6205094"/>
            <a:ext cx="2743200" cy="365125"/>
          </a:xfrm>
        </p:spPr>
        <p:txBody>
          <a:bodyPr/>
          <a:lstStyle/>
          <a:p>
            <a:r>
              <a:rPr lang="en-US" sz="1600" dirty="0">
                <a:solidFill>
                  <a:schemeClr val="tx1"/>
                </a:solidFill>
              </a:rPr>
              <a:t>9</a:t>
            </a:r>
            <a:endParaRPr lang="en-IN" sz="1600" dirty="0">
              <a:solidFill>
                <a:schemeClr val="tx1"/>
              </a:solidFill>
            </a:endParaRPr>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26057" y="1"/>
            <a:ext cx="1465943" cy="870856"/>
          </a:xfrm>
          <a:prstGeom prst="rect">
            <a:avLst/>
          </a:prstGeom>
        </p:spPr>
      </p:pic>
      <p:sp>
        <p:nvSpPr>
          <p:cNvPr id="2" name="Rectangle 1"/>
          <p:cNvSpPr/>
          <p:nvPr/>
        </p:nvSpPr>
        <p:spPr>
          <a:xfrm>
            <a:off x="4915598" y="0"/>
            <a:ext cx="2255746" cy="579967"/>
          </a:xfrm>
          <a:prstGeom prst="rect">
            <a:avLst/>
          </a:prstGeom>
        </p:spPr>
        <p:txBody>
          <a:bodyPr wrap="none">
            <a:spAutoFit/>
          </a:bodyPr>
          <a:lstStyle/>
          <a:p>
            <a:pPr>
              <a:lnSpc>
                <a:spcPct val="150000"/>
              </a:lnSpc>
            </a:pPr>
            <a:r>
              <a:rPr lang="en-US" sz="2400" b="1" dirty="0">
                <a:latin typeface="Times New Roman" panose="02020603050405020304" pitchFamily="18" charset="0"/>
                <a:cs typeface="Times New Roman" panose="02020603050405020304" pitchFamily="18" charset="0"/>
              </a:rPr>
              <a:t>REFERENCES</a:t>
            </a:r>
          </a:p>
        </p:txBody>
      </p:sp>
      <p:cxnSp>
        <p:nvCxnSpPr>
          <p:cNvPr id="13" name="Straight Connector 12"/>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14" name="Date Placeholder 13"/>
          <p:cNvSpPr>
            <a:spLocks noGrp="1"/>
          </p:cNvSpPr>
          <p:nvPr>
            <p:ph type="dt" sz="half" idx="10"/>
          </p:nvPr>
        </p:nvSpPr>
        <p:spPr/>
        <p:txBody>
          <a:bodyPr/>
          <a:lstStyle/>
          <a:p>
            <a:fld id="{9C95C9B0-0BE2-4AE7-B468-197A9F0AF98B}" type="datetime1">
              <a:rPr lang="en-IN" smtClean="0"/>
              <a:t>01-03-2025</a:t>
            </a:fld>
            <a:endParaRPr lang="en-IN"/>
          </a:p>
        </p:txBody>
      </p:sp>
    </p:spTree>
    <p:extLst>
      <p:ext uri="{BB962C8B-B14F-4D97-AF65-F5344CB8AC3E}">
        <p14:creationId xmlns:p14="http://schemas.microsoft.com/office/powerpoint/2010/main" val="3704108262"/>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034CBD-4C43-EB7A-B62B-D092AF5350B0}"/>
              </a:ext>
            </a:extLst>
          </p:cNvPr>
          <p:cNvSpPr txBox="1"/>
          <p:nvPr/>
        </p:nvSpPr>
        <p:spPr>
          <a:xfrm>
            <a:off x="2968815" y="2534062"/>
            <a:ext cx="6411685" cy="1323439"/>
          </a:xfrm>
          <a:prstGeom prst="rect">
            <a:avLst/>
          </a:prstGeom>
          <a:noFill/>
        </p:spPr>
        <p:txBody>
          <a:bodyPr wrap="square" rtlCol="0">
            <a:spAutoFit/>
          </a:bodyPr>
          <a:lstStyle/>
          <a:p>
            <a:r>
              <a:rPr lang="en-US" sz="8000" dirty="0">
                <a:latin typeface="Algerian" panose="04020705040A02060702" pitchFamily="82" charset="0"/>
                <a:ea typeface="Tahoma" panose="020B0604030504040204" pitchFamily="34" charset="0"/>
                <a:cs typeface="Tahoma" panose="020B0604030504040204" pitchFamily="34" charset="0"/>
              </a:rPr>
              <a:t>Queries?</a:t>
            </a:r>
            <a:endParaRPr lang="en-IN" sz="8000" dirty="0">
              <a:latin typeface="Algerian" panose="04020705040A02060702" pitchFamily="82" charset="0"/>
              <a:ea typeface="Tahoma" panose="020B0604030504040204" pitchFamily="34" charset="0"/>
              <a:cs typeface="Tahoma" panose="020B0604030504040204" pitchFamily="34"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69600" y="0"/>
            <a:ext cx="1306286" cy="914399"/>
          </a:xfrm>
          <a:prstGeom prst="rect">
            <a:avLst/>
          </a:prstGeom>
        </p:spPr>
      </p:pic>
      <p:cxnSp>
        <p:nvCxnSpPr>
          <p:cNvPr id="6" name="Straight Connector 5"/>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3" name="Date Placeholder 2"/>
          <p:cNvSpPr>
            <a:spLocks noGrp="1"/>
          </p:cNvSpPr>
          <p:nvPr>
            <p:ph type="dt" sz="half" idx="10"/>
          </p:nvPr>
        </p:nvSpPr>
        <p:spPr/>
        <p:txBody>
          <a:bodyPr/>
          <a:lstStyle/>
          <a:p>
            <a:fld id="{91675765-EBB7-416C-826C-49391DCA2FF2}" type="datetime1">
              <a:rPr lang="en-IN" smtClean="0"/>
              <a:t>01-03-2025</a:t>
            </a:fld>
            <a:endParaRPr lang="en-IN"/>
          </a:p>
        </p:txBody>
      </p:sp>
      <p:sp>
        <p:nvSpPr>
          <p:cNvPr id="7" name="Slide Number Placeholder 6"/>
          <p:cNvSpPr>
            <a:spLocks noGrp="1"/>
          </p:cNvSpPr>
          <p:nvPr>
            <p:ph type="sldNum" sz="quarter" idx="12"/>
          </p:nvPr>
        </p:nvSpPr>
        <p:spPr/>
        <p:txBody>
          <a:bodyPr/>
          <a:lstStyle/>
          <a:p>
            <a:fld id="{79CD4CE9-F1A3-4728-B74D-DBF6FEAF9982}" type="slidenum">
              <a:rPr lang="en-IN" smtClean="0"/>
              <a:t>14</a:t>
            </a:fld>
            <a:endParaRPr lang="en-IN"/>
          </a:p>
        </p:txBody>
      </p:sp>
    </p:spTree>
    <p:extLst>
      <p:ext uri="{BB962C8B-B14F-4D97-AF65-F5344CB8AC3E}">
        <p14:creationId xmlns:p14="http://schemas.microsoft.com/office/powerpoint/2010/main" val="1965857573"/>
      </p:ext>
    </p:extLst>
  </p:cSld>
  <p:clrMapOvr>
    <a:masterClrMapping/>
  </p:clrMapOvr>
  <p:transition spd="slow">
    <p:cover/>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1175</TotalTime>
  <Words>1236</Words>
  <Application>Microsoft Office PowerPoint</Application>
  <PresentationFormat>Widescreen</PresentationFormat>
  <Paragraphs>143</Paragraphs>
  <Slides>14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Algerian</vt:lpstr>
      <vt:lpstr>Arial</vt:lpstr>
      <vt:lpstr>Calibri</vt:lpstr>
      <vt:lpstr>Calibri Light</vt:lpstr>
      <vt:lpstr>Times New Roman</vt:lpstr>
      <vt:lpstr>Office Theme</vt:lpstr>
      <vt:lpstr>    MINOR PROJECT ABSTRACT REVIEW    TITLE : Blockchain-Based Prediction Market </vt:lpstr>
      <vt:lpstr>PowerPoint Presentation</vt:lpstr>
      <vt:lpstr>PowerPoint Presentation</vt:lpstr>
      <vt:lpstr>PowerPoint Presentation</vt:lpstr>
      <vt:lpstr>EXISTING SYSTEM</vt:lpstr>
      <vt:lpstr>PowerPoint Presentation</vt:lpstr>
      <vt:lpstr>PowerPoint Presentation</vt:lpstr>
      <vt:lpstr>OBJECTIVE </vt:lpstr>
      <vt:lpstr>ADVANTAGES OF PROPOSED SYSTEM OVER EXISTING SYSTEM </vt:lpstr>
      <vt:lpstr>PowerPoint Presentation</vt:lpstr>
      <vt:lpstr>PROJECT TIME PLAN </vt:lpstr>
      <vt:lpstr>CONCLUSION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Digital Sketchpad : Deep Learning in Forensic Face Sketching</dc:title>
  <dc:creator>switch41</dc:creator>
  <cp:lastModifiedBy>Kushal Parihar</cp:lastModifiedBy>
  <cp:revision>37</cp:revision>
  <dcterms:created xsi:type="dcterms:W3CDTF">2024-08-07T16:48:25Z</dcterms:created>
  <dcterms:modified xsi:type="dcterms:W3CDTF">2025-03-01T17:17:44Z</dcterms:modified>
</cp:coreProperties>
</file>